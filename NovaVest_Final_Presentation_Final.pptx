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78697" autoAdjust="0"/>
  </p:normalViewPr>
  <p:slideViewPr>
    <p:cSldViewPr snapToGrid="0" snapToObjects="1">
      <p:cViewPr varScale="1">
        <p:scale>
          <a:sx n="100" d="100"/>
          <a:sy n="100" d="100"/>
        </p:scale>
        <p:origin x="1000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Image Placeholder 1">
            <a:extLst>
              <a:ext uri="{FF2B5EF4-FFF2-40B4-BE49-F238E27FC236}">
                <a16:creationId xmlns:a16="http://schemas.microsoft.com/office/drawing/2014/main" id="{717A7C82-A0BE-B246-BC30-8DFE93690E6F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5" name="Notes Placeholder 2">
            <a:extLst>
              <a:ext uri="{FF2B5EF4-FFF2-40B4-BE49-F238E27FC236}">
                <a16:creationId xmlns:a16="http://schemas.microsoft.com/office/drawing/2014/main" id="{0EB8CACA-51F5-15F9-FF7E-C2F3EF63365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3076" name="Slide Number Placeholder 3">
            <a:extLst>
              <a:ext uri="{FF2B5EF4-FFF2-40B4-BE49-F238E27FC236}">
                <a16:creationId xmlns:a16="http://schemas.microsoft.com/office/drawing/2014/main" id="{45395AD9-49A8-4959-9178-1CE3EBDB6050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id="{D9CA3A1D-BA95-EAB5-555C-626E752DD386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id="{9651683C-02AE-EB8D-B5ED-8CB17147503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id="{B62FCB43-74A3-0536-41E9-87604EF4C1E5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:a16="http://schemas.microsoft.com/office/drawing/2014/main" id="{4AAC5F7C-2B12-170B-BB2F-9057B2D1F574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7171" name="Notes Placeholder 2">
            <a:extLst>
              <a:ext uri="{FF2B5EF4-FFF2-40B4-BE49-F238E27FC236}">
                <a16:creationId xmlns:a16="http://schemas.microsoft.com/office/drawing/2014/main" id="{E87943C9-3045-D869-CD27-8CB4B8921A1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7172" name="Slide Number Placeholder 3">
            <a:extLst>
              <a:ext uri="{FF2B5EF4-FFF2-40B4-BE49-F238E27FC236}">
                <a16:creationId xmlns:a16="http://schemas.microsoft.com/office/drawing/2014/main" id="{B7ECB4FA-3BAB-8F13-0D64-8D09C7D4BDB8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80CA362B-934E-0792-F202-ECA9BAEDF80C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D2C0B66F-B509-1EB3-DB54-82A692F0741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9220" name="Slide Number Placeholder 3">
            <a:extLst>
              <a:ext uri="{FF2B5EF4-FFF2-40B4-BE49-F238E27FC236}">
                <a16:creationId xmlns:a16="http://schemas.microsoft.com/office/drawing/2014/main" id="{E11ADBA3-714E-2CC9-E131-0FF96ECB7EC2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2F6FB46E-029E-6667-CD1B-74A2DF4FCE06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6C9A4D2F-8345-64C4-4AE9-C5C6788899B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19E590D7-2182-CBAE-345A-D93BE5E6DE88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>
            <a:extLst>
              <a:ext uri="{FF2B5EF4-FFF2-40B4-BE49-F238E27FC236}">
                <a16:creationId xmlns:a16="http://schemas.microsoft.com/office/drawing/2014/main" id="{DDE09A6E-5689-8D37-DF68-830E7CAF936A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3315" name="Notes Placeholder 2">
            <a:extLst>
              <a:ext uri="{FF2B5EF4-FFF2-40B4-BE49-F238E27FC236}">
                <a16:creationId xmlns:a16="http://schemas.microsoft.com/office/drawing/2014/main" id="{D2DE717B-0E94-D009-1F46-D87BD66B555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59F6A081-FC39-3552-73C3-24044F08BD9F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3EA9476F-7BE4-5903-6974-B9E908D22740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88399540-139E-077C-6699-F18462470B2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6130A02C-EFCF-CAFF-E8FF-EFCADC162AAD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1125F37D-7A32-7AC6-CB63-10283CA149DC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8CA6F93E-BF89-B592-C80B-6457543DAAC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833DFE44-53AD-5791-CA4C-03F17E9D55ED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D9A1ED15-7B9D-5A79-70F0-DCCE596690DC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9A767EB4-FCAE-A4F2-D23E-F3CA81DCC36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22303399-AA04-F8E0-F9DE-57281CD0097D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8C8D7934-1B8F-E854-C22D-04003AAAAD83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955CF4BD-5954-B9BA-9D89-A86CFA8BC47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EEA1A26A-66C6-B776-D00C-8DF6D02C216B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4E1FF-718D-B48B-F568-20B83773F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9E7CFB-1BD6-FE4B-A2C4-6BAC8BC8326A}" type="datetimeFigureOut">
              <a:rPr lang="en-US" altLang="zh-CN"/>
              <a:pPr>
                <a:defRPr/>
              </a:pPr>
              <a:t>4/28/26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BCCB8-9DB0-A5C8-54EA-2F6F59306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03523-A0CF-FD54-F4DA-237C50EB1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C3F839-8642-BD47-BBFE-3EDFA2F490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4246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4429F-24B0-43E6-6505-9CFAC162D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FFC382-0268-B144-85BD-8DD34385F2B6}" type="datetimeFigureOut">
              <a:rPr lang="en-US" altLang="zh-CN"/>
              <a:pPr>
                <a:defRPr/>
              </a:pPr>
              <a:t>4/28/26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24263-AAE7-73B3-578A-692CDE7A4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6D89C-7C24-2251-19AD-41156EFA4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A9F61C-F3CC-324B-8F56-9618E2326B5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53496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F50D8-4786-0031-D5BD-9D6D62BAD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3B733A-3156-F64F-ABB6-B00A36290968}" type="datetimeFigureOut">
              <a:rPr lang="en-US" altLang="zh-CN"/>
              <a:pPr>
                <a:defRPr/>
              </a:pPr>
              <a:t>4/28/26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C5527-6EBF-7D6C-0B03-6F628D07D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89E6E-7088-2A25-26D2-990DF7516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CF21FC-1F89-E74D-AF50-0E84141DADC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02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9DAAE92-1657-604E-3643-4B82D45C9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80A86C-A594-7248-9237-648E0A5E4074}" type="datetimeFigureOut">
              <a:rPr lang="en-US" altLang="zh-CN"/>
              <a:pPr>
                <a:defRPr/>
              </a:pPr>
              <a:t>4/28/26</a:t>
            </a:fld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9C6ADCB-8E60-CF81-49D8-A861FD954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573A86F-730B-BC44-B4CF-2A6E6612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15AB0F-4C80-5A46-99A5-C12CCA3D7DF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1255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9759634-37DB-7B7E-D9E8-D536071F4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282AFD-68E5-774D-801A-C349850DE9F9}" type="datetimeFigureOut">
              <a:rPr lang="en-US" altLang="zh-CN"/>
              <a:pPr>
                <a:defRPr/>
              </a:pPr>
              <a:t>4/28/26</a:t>
            </a:fld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DD823EB-04B7-8D1B-38E4-DFB3B64D6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5B1F41-27C6-5C12-4A12-2C7AF9510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650FFA-8D21-0A42-BD2F-19A13E97E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4284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F7249EF-3D91-C10D-438E-DD90B292A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ACDB49-0773-F940-8473-39B32BCEC1B6}" type="datetimeFigureOut">
              <a:rPr lang="en-US" altLang="zh-CN"/>
              <a:pPr>
                <a:defRPr/>
              </a:pPr>
              <a:t>4/28/26</a:t>
            </a:fld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3DC2712-723B-5865-9C44-7D7FB2582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22F2481-26BA-185A-50AD-1F495D21C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6749C8-E109-2640-8FAE-609B1E70A81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2982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C5C7A6C-18D8-542B-7FF5-55BDA45F1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0B15F9-396E-C14F-B883-C37D41F68618}" type="datetimeFigureOut">
              <a:rPr lang="en-US" altLang="zh-CN"/>
              <a:pPr>
                <a:defRPr/>
              </a:pPr>
              <a:t>4/28/26</a:t>
            </a:fld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7F53990-B2C6-8776-C887-CE81B2F6E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7FB380A-5817-48C7-2448-FA004F755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F0D2D5-70F7-9740-9AFA-A6B36E05808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8908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7ABB374-7DB2-F5C4-4664-567E9BD06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DE987B-3461-544C-A126-5C0D7ECCEF90}" type="datetimeFigureOut">
              <a:rPr lang="en-US" altLang="zh-CN"/>
              <a:pPr>
                <a:defRPr/>
              </a:pPr>
              <a:t>4/28/26</a:t>
            </a:fld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008337A-8716-C54B-D30C-D5ABEF2E3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70DC1C2-FF1A-7431-A914-B549F2599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A7E339-7579-104E-8DC8-B040B5AFB4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860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47D3035-BD7B-7F0F-CDC1-3701989C3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B6401D-C791-2043-8B29-B4544E11037C}" type="datetimeFigureOut">
              <a:rPr lang="en-US" altLang="zh-CN"/>
              <a:pPr>
                <a:defRPr/>
              </a:pPr>
              <a:t>4/28/26</a:t>
            </a:fld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D074CEC-128A-4631-5BD9-43B3CF027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A6AA9E9-3C19-EA97-DFC8-2F2D623E3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F44327-A77C-3140-A16C-ABABF56E972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7721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67CBA-2443-5D20-BE70-8492B6B85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E3D873-0DD3-0C46-83B9-3959F061ADCA}" type="datetimeFigureOut">
              <a:rPr lang="en-US" altLang="zh-CN"/>
              <a:pPr>
                <a:defRPr/>
              </a:pPr>
              <a:t>4/28/26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A327C-1331-D092-1EED-E3AB5FDA1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68303-FF57-F348-22D0-586324262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8E55A6-06BB-984A-A79C-D65A6DDB00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4469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CBF22-E68F-FCA7-7795-FBBE8F8B0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C017F7-4C06-C348-BD9B-E800B011A755}" type="datetimeFigureOut">
              <a:rPr lang="en-US" altLang="zh-CN"/>
              <a:pPr>
                <a:defRPr/>
              </a:pPr>
              <a:t>4/28/26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16745-184B-F346-4B46-5C85D28DA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81DEB-5A8A-6CC7-4012-B00ABC2B1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FCCE9E-738C-D449-9767-68FCFE1B7BC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2485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58B0181D-3635-0778-DE1D-4799A83DB6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47C55D70-6450-2291-C297-38740B538E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43A52-38E9-E2BE-061C-E9E7F058F8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4854C6D-4046-1642-BE18-CFAF678C083E}" type="datetimeFigureOut">
              <a:rPr lang="en-US" altLang="zh-CN"/>
              <a:pPr>
                <a:defRPr/>
              </a:pPr>
              <a:t>4/28/26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4E9E0-ABE0-46A2-399B-7E00DFB3A6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0CCCC-4FD8-B12E-2636-00A9B2FD5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5CBBA032-4E40-CA43-92A4-461EB751EFF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5D3933-4CBA-2A48-399B-FAF7CB980E81}"/>
              </a:ext>
            </a:extLst>
          </p:cNvPr>
          <p:cNvSpPr/>
          <p:nvPr/>
        </p:nvSpPr>
        <p:spPr>
          <a:xfrm>
            <a:off x="0" y="0"/>
            <a:ext cx="12192000" cy="1736725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2051" name="TextBox 2">
            <a:extLst>
              <a:ext uri="{FF2B5EF4-FFF2-40B4-BE49-F238E27FC236}">
                <a16:creationId xmlns:a16="http://schemas.microsoft.com/office/drawing/2014/main" id="{8F02AF36-A6DA-E36F-1CA2-4B9F52CF2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420688"/>
            <a:ext cx="8412162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7432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800" b="1">
                <a:solidFill>
                  <a:srgbClr val="FFFFFF"/>
                </a:solidFill>
                <a:latin typeface="Aptos" panose="020B0004020202020204" pitchFamily="34" charset="0"/>
              </a:rPr>
              <a:t>NovaVest Research Summary Assistant v1</a:t>
            </a:r>
          </a:p>
        </p:txBody>
      </p:sp>
      <p:sp>
        <p:nvSpPr>
          <p:cNvPr id="2052" name="TextBox 3">
            <a:extLst>
              <a:ext uri="{FF2B5EF4-FFF2-40B4-BE49-F238E27FC236}">
                <a16:creationId xmlns:a16="http://schemas.microsoft.com/office/drawing/2014/main" id="{F1C727FB-21E0-E000-4F40-DF3D286A4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25" y="933450"/>
            <a:ext cx="8686800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7432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600">
                <a:solidFill>
                  <a:srgbClr val="DAE3F0"/>
                </a:solidFill>
                <a:latin typeface="Aptos" panose="020B0004020202020204" pitchFamily="34" charset="0"/>
              </a:rPr>
              <a:t>A governed AI-assisted financial research summary workflow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CCE4EC3-B751-C461-3372-20D62B8F6FDC}"/>
              </a:ext>
            </a:extLst>
          </p:cNvPr>
          <p:cNvSpPr/>
          <p:nvPr/>
        </p:nvSpPr>
        <p:spPr>
          <a:xfrm>
            <a:off x="593725" y="2030413"/>
            <a:ext cx="3567113" cy="1050925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F5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8E0590C-FA5B-95B7-F87F-2CD573867B4B}"/>
              </a:ext>
            </a:extLst>
          </p:cNvPr>
          <p:cNvSpPr/>
          <p:nvPr/>
        </p:nvSpPr>
        <p:spPr>
          <a:xfrm>
            <a:off x="704850" y="2120900"/>
            <a:ext cx="1325563" cy="257175"/>
          </a:xfrm>
          <a:prstGeom prst="roundRect">
            <a:avLst/>
          </a:prstGeom>
          <a:solidFill>
            <a:srgbClr val="EDF3F8"/>
          </a:solidFill>
          <a:ln w="12700">
            <a:solidFill>
              <a:srgbClr val="2F5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FB6CE1-06B4-F311-91A0-9D270F3EE341}"/>
              </a:ext>
            </a:extLst>
          </p:cNvPr>
          <p:cNvSpPr txBox="1"/>
          <p:nvPr/>
        </p:nvSpPr>
        <p:spPr>
          <a:xfrm>
            <a:off x="758825" y="2144713"/>
            <a:ext cx="1169988" cy="146050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 b="1">
                <a:solidFill>
                  <a:srgbClr val="2F5EAB"/>
                </a:solidFill>
                <a:latin typeface="Aptos"/>
              </a:rPr>
              <a:t>Team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C31BD1-1A94-E8E5-0A2D-8BEA4A16E9FF}"/>
              </a:ext>
            </a:extLst>
          </p:cNvPr>
          <p:cNvSpPr txBox="1"/>
          <p:nvPr/>
        </p:nvSpPr>
        <p:spPr>
          <a:xfrm>
            <a:off x="722313" y="2468563"/>
            <a:ext cx="3309937" cy="409575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 dirty="0">
                <a:solidFill>
                  <a:srgbClr val="1F2937"/>
                </a:solidFill>
                <a:latin typeface="Aptos"/>
              </a:rPr>
              <a:t>Riza Cepni
Zhengliang (Leon)</a:t>
            </a:r>
            <a:r>
              <a:rPr lang="en-US" sz="1150" dirty="0">
                <a:solidFill>
                  <a:srgbClr val="1F2937"/>
                </a:solidFill>
                <a:latin typeface="Aptos"/>
              </a:rPr>
              <a:t> X</a:t>
            </a:r>
            <a:r>
              <a:rPr lang="en-US" altLang="zh-CN" sz="1150" dirty="0">
                <a:solidFill>
                  <a:srgbClr val="1F2937"/>
                </a:solidFill>
                <a:latin typeface="Aptos"/>
              </a:rPr>
              <a:t>iang</a:t>
            </a:r>
            <a:r>
              <a:rPr sz="1150" dirty="0">
                <a:solidFill>
                  <a:srgbClr val="1F2937"/>
                </a:solidFill>
                <a:latin typeface="Aptos"/>
              </a:rPr>
              <a:t>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2B7D014-86F4-D88E-42E5-E2096AAC4D83}"/>
              </a:ext>
            </a:extLst>
          </p:cNvPr>
          <p:cNvSpPr/>
          <p:nvPr/>
        </p:nvSpPr>
        <p:spPr>
          <a:xfrm>
            <a:off x="4316413" y="2030413"/>
            <a:ext cx="3336925" cy="1050925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8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FB434B2-9EF8-3DFF-58F4-FD899C957BB7}"/>
              </a:ext>
            </a:extLst>
          </p:cNvPr>
          <p:cNvSpPr/>
          <p:nvPr/>
        </p:nvSpPr>
        <p:spPr>
          <a:xfrm>
            <a:off x="4425950" y="2120900"/>
            <a:ext cx="1325563" cy="257175"/>
          </a:xfrm>
          <a:prstGeom prst="roundRect">
            <a:avLst/>
          </a:prstGeom>
          <a:solidFill>
            <a:srgbClr val="EDF3F8"/>
          </a:solidFill>
          <a:ln w="12700">
            <a:solidFill>
              <a:srgbClr val="248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FC7480-6BB4-C8AE-9211-5CBD311E967C}"/>
              </a:ext>
            </a:extLst>
          </p:cNvPr>
          <p:cNvSpPr txBox="1"/>
          <p:nvPr/>
        </p:nvSpPr>
        <p:spPr>
          <a:xfrm>
            <a:off x="4479925" y="2144713"/>
            <a:ext cx="1171575" cy="146050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 b="1">
                <a:solidFill>
                  <a:srgbClr val="248C7D"/>
                </a:solidFill>
                <a:latin typeface="Aptos"/>
              </a:rPr>
              <a:t>Course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0F899D-2AD5-79D1-33EF-EFAAB9CDE676}"/>
              </a:ext>
            </a:extLst>
          </p:cNvPr>
          <p:cNvSpPr txBox="1"/>
          <p:nvPr/>
        </p:nvSpPr>
        <p:spPr>
          <a:xfrm>
            <a:off x="4443413" y="2468563"/>
            <a:ext cx="3081337" cy="522287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>
                <a:solidFill>
                  <a:srgbClr val="1F2937"/>
                </a:solidFill>
                <a:latin typeface="Aptos"/>
              </a:rPr>
              <a:t>AI Design &amp; Deployment Risks
Final Project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47A70F9-B9C0-39AC-F9B5-77A767CDA61A}"/>
              </a:ext>
            </a:extLst>
          </p:cNvPr>
          <p:cNvSpPr/>
          <p:nvPr/>
        </p:nvSpPr>
        <p:spPr>
          <a:xfrm>
            <a:off x="7808913" y="2030413"/>
            <a:ext cx="3749675" cy="1050925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C8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818BA15-72B2-527A-3869-EB8AD0753452}"/>
              </a:ext>
            </a:extLst>
          </p:cNvPr>
          <p:cNvSpPr/>
          <p:nvPr/>
        </p:nvSpPr>
        <p:spPr>
          <a:xfrm>
            <a:off x="7918450" y="2120900"/>
            <a:ext cx="1325563" cy="257175"/>
          </a:xfrm>
          <a:prstGeom prst="roundRect">
            <a:avLst/>
          </a:prstGeom>
          <a:solidFill>
            <a:srgbClr val="F9F0E4"/>
          </a:solidFill>
          <a:ln w="12700">
            <a:solidFill>
              <a:srgbClr val="DC8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10E8CF-4300-D270-5C74-87CA7D261E44}"/>
              </a:ext>
            </a:extLst>
          </p:cNvPr>
          <p:cNvSpPr txBox="1"/>
          <p:nvPr/>
        </p:nvSpPr>
        <p:spPr>
          <a:xfrm>
            <a:off x="7974013" y="2144713"/>
            <a:ext cx="1169987" cy="146050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 b="1">
                <a:solidFill>
                  <a:srgbClr val="DC862D"/>
                </a:solidFill>
                <a:latin typeface="Aptos"/>
              </a:rPr>
              <a:t>Focus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EFF6D1-BD33-4D37-AD9A-F47BDAE4FBF4}"/>
              </a:ext>
            </a:extLst>
          </p:cNvPr>
          <p:cNvSpPr txBox="1"/>
          <p:nvPr/>
        </p:nvSpPr>
        <p:spPr>
          <a:xfrm>
            <a:off x="7937500" y="2468563"/>
            <a:ext cx="3492500" cy="522287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>
                <a:solidFill>
                  <a:srgbClr val="1F2937"/>
                </a:solidFill>
                <a:latin typeface="Aptos"/>
              </a:rPr>
              <a:t>Governance, controls, evidence, and release decisions</a:t>
            </a:r>
          </a:p>
        </p:txBody>
      </p:sp>
      <p:sp>
        <p:nvSpPr>
          <p:cNvPr id="2065" name="TextBox 16">
            <a:extLst>
              <a:ext uri="{FF2B5EF4-FFF2-40B4-BE49-F238E27FC236}">
                <a16:creationId xmlns:a16="http://schemas.microsoft.com/office/drawing/2014/main" id="{D96B6A20-5A86-06E8-1C7A-AAFAE31DEA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775" y="3455988"/>
            <a:ext cx="3932238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7432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800" b="1">
                <a:solidFill>
                  <a:srgbClr val="1F2937"/>
                </a:solidFill>
                <a:latin typeface="Aptos" panose="020B0004020202020204" pitchFamily="34" charset="0"/>
              </a:rPr>
              <a:t>Core system idea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FFE6753-51F0-2ED9-3980-5CF67DA92C3E}"/>
              </a:ext>
            </a:extLst>
          </p:cNvPr>
          <p:cNvSpPr/>
          <p:nvPr/>
        </p:nvSpPr>
        <p:spPr>
          <a:xfrm>
            <a:off x="639763" y="3840163"/>
            <a:ext cx="3455987" cy="1463675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F5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50DF6D0-18DB-0B61-1A9B-FC40303F96A7}"/>
              </a:ext>
            </a:extLst>
          </p:cNvPr>
          <p:cNvSpPr/>
          <p:nvPr/>
        </p:nvSpPr>
        <p:spPr>
          <a:xfrm>
            <a:off x="749300" y="3932238"/>
            <a:ext cx="1327150" cy="255587"/>
          </a:xfrm>
          <a:prstGeom prst="roundRect">
            <a:avLst/>
          </a:prstGeom>
          <a:solidFill>
            <a:srgbClr val="EDF3F8"/>
          </a:solidFill>
          <a:ln w="12700">
            <a:solidFill>
              <a:srgbClr val="2F5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BD31BC-AFF2-336B-9C92-8A774B7B2266}"/>
              </a:ext>
            </a:extLst>
          </p:cNvPr>
          <p:cNvSpPr txBox="1"/>
          <p:nvPr/>
        </p:nvSpPr>
        <p:spPr>
          <a:xfrm>
            <a:off x="804863" y="3954463"/>
            <a:ext cx="1169987" cy="146050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 b="1">
                <a:solidFill>
                  <a:srgbClr val="2F5EAB"/>
                </a:solidFill>
                <a:latin typeface="Aptos"/>
              </a:rPr>
              <a:t>Input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3F4B20-4EC7-E7D6-326D-AE1FA7C58874}"/>
              </a:ext>
            </a:extLst>
          </p:cNvPr>
          <p:cNvSpPr txBox="1"/>
          <p:nvPr/>
        </p:nvSpPr>
        <p:spPr>
          <a:xfrm>
            <a:off x="768350" y="4279900"/>
            <a:ext cx="3200400" cy="931863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>
                <a:solidFill>
                  <a:srgbClr val="1F2937"/>
                </a:solidFill>
                <a:latin typeface="Aptos"/>
              </a:rPr>
              <a:t>Public company disclosures such as filings and earnings transcripts.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CF2301D-ABA6-0466-378F-6BAE35B8F3FE}"/>
              </a:ext>
            </a:extLst>
          </p:cNvPr>
          <p:cNvSpPr/>
          <p:nvPr/>
        </p:nvSpPr>
        <p:spPr>
          <a:xfrm>
            <a:off x="4435475" y="3840163"/>
            <a:ext cx="3455988" cy="1463675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8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AB3A447-B961-8C2A-ECD2-D31F5D547AC4}"/>
              </a:ext>
            </a:extLst>
          </p:cNvPr>
          <p:cNvSpPr/>
          <p:nvPr/>
        </p:nvSpPr>
        <p:spPr>
          <a:xfrm>
            <a:off x="4545013" y="3932238"/>
            <a:ext cx="1325562" cy="255587"/>
          </a:xfrm>
          <a:prstGeom prst="roundRect">
            <a:avLst/>
          </a:prstGeom>
          <a:solidFill>
            <a:srgbClr val="EDF3F8"/>
          </a:solidFill>
          <a:ln w="12700">
            <a:solidFill>
              <a:srgbClr val="248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D2957B-AD0C-639D-8785-24C4369E901F}"/>
              </a:ext>
            </a:extLst>
          </p:cNvPr>
          <p:cNvSpPr txBox="1"/>
          <p:nvPr/>
        </p:nvSpPr>
        <p:spPr>
          <a:xfrm>
            <a:off x="4598988" y="3954463"/>
            <a:ext cx="1052512" cy="233362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 b="1">
                <a:solidFill>
                  <a:srgbClr val="248C7D"/>
                </a:solidFill>
                <a:latin typeface="Aptos"/>
              </a:rPr>
              <a:t>Draft support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B2E01E-6262-42A0-8CED-4174BC539784}"/>
              </a:ext>
            </a:extLst>
          </p:cNvPr>
          <p:cNvSpPr txBox="1"/>
          <p:nvPr/>
        </p:nvSpPr>
        <p:spPr>
          <a:xfrm>
            <a:off x="4562475" y="4279900"/>
            <a:ext cx="3200400" cy="931863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>
                <a:solidFill>
                  <a:srgbClr val="1F2937"/>
                </a:solidFill>
                <a:latin typeface="Aptos"/>
              </a:rPr>
              <a:t>The system creates a first draft, but not a final released output.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0FBD909-C912-4F17-C370-C2FAD5705F04}"/>
              </a:ext>
            </a:extLst>
          </p:cNvPr>
          <p:cNvSpPr/>
          <p:nvPr/>
        </p:nvSpPr>
        <p:spPr>
          <a:xfrm>
            <a:off x="8229600" y="3840163"/>
            <a:ext cx="3455988" cy="1463675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C8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BF12BEC2-6A79-EC12-2C7C-884BF10CB0EE}"/>
              </a:ext>
            </a:extLst>
          </p:cNvPr>
          <p:cNvSpPr/>
          <p:nvPr/>
        </p:nvSpPr>
        <p:spPr>
          <a:xfrm>
            <a:off x="8339138" y="3932238"/>
            <a:ext cx="1531937" cy="265112"/>
          </a:xfrm>
          <a:prstGeom prst="roundRect">
            <a:avLst/>
          </a:prstGeom>
          <a:solidFill>
            <a:srgbClr val="F9F0E4"/>
          </a:solidFill>
          <a:ln w="12700">
            <a:solidFill>
              <a:srgbClr val="DC8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4C7C12-4217-A2DA-FEEF-6C8A028032E6}"/>
              </a:ext>
            </a:extLst>
          </p:cNvPr>
          <p:cNvSpPr txBox="1"/>
          <p:nvPr/>
        </p:nvSpPr>
        <p:spPr>
          <a:xfrm>
            <a:off x="8394700" y="3954463"/>
            <a:ext cx="1335088" cy="233362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 b="1" dirty="0">
                <a:solidFill>
                  <a:srgbClr val="DC862D"/>
                </a:solidFill>
                <a:latin typeface="Aptos"/>
              </a:rPr>
              <a:t>Governed release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B746C4-1DA8-4B21-4C09-355BE1675925}"/>
              </a:ext>
            </a:extLst>
          </p:cNvPr>
          <p:cNvSpPr txBox="1"/>
          <p:nvPr/>
        </p:nvSpPr>
        <p:spPr>
          <a:xfrm>
            <a:off x="8358188" y="4279900"/>
            <a:ext cx="3200400" cy="931863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>
                <a:solidFill>
                  <a:srgbClr val="1F2937"/>
                </a:solidFill>
                <a:latin typeface="Aptos"/>
              </a:rPr>
              <a:t>Controls and human review decide approved, revise, escalate, reject, or pending review.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981201D-987B-8C5E-DA51-592F0F5C0DEC}"/>
              </a:ext>
            </a:extLst>
          </p:cNvPr>
          <p:cNvSpPr/>
          <p:nvPr/>
        </p:nvSpPr>
        <p:spPr>
          <a:xfrm>
            <a:off x="347663" y="6446838"/>
            <a:ext cx="11493500" cy="17462"/>
          </a:xfrm>
          <a:prstGeom prst="rect">
            <a:avLst/>
          </a:prstGeom>
          <a:solidFill>
            <a:srgbClr val="D2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B31B3DB-A83B-1546-4BB3-2B2536566E7D}"/>
              </a:ext>
            </a:extLst>
          </p:cNvPr>
          <p:cNvSpPr txBox="1"/>
          <p:nvPr/>
        </p:nvSpPr>
        <p:spPr>
          <a:xfrm>
            <a:off x="411163" y="6473825"/>
            <a:ext cx="9144000" cy="1095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850">
                <a:solidFill>
                  <a:srgbClr val="6B7280"/>
                </a:solidFill>
                <a:latin typeface="Aptos"/>
              </a:rPr>
              <a:t>NovaVest Research Summary Assistant v1 · ME575 Final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7AF162-F736-303F-3AB8-9D4EC4FFAABB}"/>
              </a:ext>
            </a:extLst>
          </p:cNvPr>
          <p:cNvSpPr/>
          <p:nvPr/>
        </p:nvSpPr>
        <p:spPr>
          <a:xfrm>
            <a:off x="0" y="0"/>
            <a:ext cx="12192000" cy="658813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4099" name="TextBox 2">
            <a:extLst>
              <a:ext uri="{FF2B5EF4-FFF2-40B4-BE49-F238E27FC236}">
                <a16:creationId xmlns:a16="http://schemas.microsoft.com/office/drawing/2014/main" id="{2E4ACC7C-1084-D598-2417-30B2966AB8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163" y="109538"/>
            <a:ext cx="106076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400" b="1">
                <a:solidFill>
                  <a:srgbClr val="FFFFFF"/>
                </a:solidFill>
                <a:latin typeface="Aptos Display" panose="020B0004020202020204" pitchFamily="34" charset="0"/>
              </a:rPr>
              <a:t>1. Problem, scope, and system definition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5AD342-FB30-D71D-FE19-B11ADEF319AD}"/>
              </a:ext>
            </a:extLst>
          </p:cNvPr>
          <p:cNvSpPr txBox="1"/>
          <p:nvPr/>
        </p:nvSpPr>
        <p:spPr>
          <a:xfrm>
            <a:off x="430213" y="411163"/>
            <a:ext cx="9875837" cy="165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950">
                <a:solidFill>
                  <a:srgbClr val="D6E1F0"/>
                </a:solidFill>
                <a:latin typeface="Aptos"/>
              </a:rPr>
              <a:t>Why this project matters and what is inside the project boundary</a:t>
            </a:r>
          </a:p>
        </p:txBody>
      </p:sp>
      <p:sp>
        <p:nvSpPr>
          <p:cNvPr id="4101" name="TextBox 4">
            <a:extLst>
              <a:ext uri="{FF2B5EF4-FFF2-40B4-BE49-F238E27FC236}">
                <a16:creationId xmlns:a16="http://schemas.microsoft.com/office/drawing/2014/main" id="{94CF576B-6E23-4429-92BB-7C2F20453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76038" y="146050"/>
            <a:ext cx="319087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zh-CN" altLang="zh-CN" sz="1300" b="1">
                <a:solidFill>
                  <a:srgbClr val="D6E1F0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9FF3758-B2ED-E2D4-D206-50610A6DC384}"/>
              </a:ext>
            </a:extLst>
          </p:cNvPr>
          <p:cNvSpPr/>
          <p:nvPr/>
        </p:nvSpPr>
        <p:spPr>
          <a:xfrm>
            <a:off x="549275" y="1006475"/>
            <a:ext cx="5530850" cy="4525963"/>
          </a:xfrm>
          <a:prstGeom prst="roundRect">
            <a:avLst/>
          </a:prstGeom>
          <a:solidFill>
            <a:srgbClr val="F8F9FB"/>
          </a:solidFill>
          <a:ln w="17780">
            <a:solidFill>
              <a:srgbClr val="2F5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EC792E8-CEF6-213D-86E3-76EFC2652F70}"/>
              </a:ext>
            </a:extLst>
          </p:cNvPr>
          <p:cNvSpPr/>
          <p:nvPr/>
        </p:nvSpPr>
        <p:spPr>
          <a:xfrm>
            <a:off x="1133475" y="1096963"/>
            <a:ext cx="2489200" cy="255587"/>
          </a:xfrm>
          <a:prstGeom prst="roundRect">
            <a:avLst/>
          </a:prstGeom>
          <a:solidFill>
            <a:srgbClr val="EDF3F8"/>
          </a:solidFill>
          <a:ln w="12700">
            <a:solidFill>
              <a:srgbClr val="2F5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EB11B8-BC85-B3D2-60D6-85D1B01158E2}"/>
              </a:ext>
            </a:extLst>
          </p:cNvPr>
          <p:cNvSpPr txBox="1"/>
          <p:nvPr/>
        </p:nvSpPr>
        <p:spPr>
          <a:xfrm>
            <a:off x="1133475" y="1120775"/>
            <a:ext cx="1751013" cy="231775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 b="1" dirty="0">
                <a:solidFill>
                  <a:srgbClr val="2F5EAB"/>
                </a:solidFill>
                <a:latin typeface="Aptos"/>
              </a:rPr>
              <a:t>Why this matters</a:t>
            </a:r>
          </a:p>
        </p:txBody>
      </p:sp>
      <p:sp>
        <p:nvSpPr>
          <p:cNvPr id="4105" name="TextBox 8">
            <a:extLst>
              <a:ext uri="{FF2B5EF4-FFF2-40B4-BE49-F238E27FC236}">
                <a16:creationId xmlns:a16="http://schemas.microsoft.com/office/drawing/2014/main" id="{15F9DC89-4F94-D642-5F9C-82967E4974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75" y="1444625"/>
            <a:ext cx="5073650" cy="361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700"/>
              </a:spcAft>
              <a:buFontTx/>
              <a:buNone/>
            </a:pPr>
            <a:r>
              <a:rPr lang="zh-CN" altLang="zh-CN" sz="1400">
                <a:solidFill>
                  <a:srgbClr val="1F2937"/>
                </a:solidFill>
                <a:latin typeface="Aptos" panose="020B0004020202020204" pitchFamily="34" charset="0"/>
              </a:rPr>
              <a:t>AI can help analysts draft faster, but speed alone is not enough in finance-related work.</a:t>
            </a:r>
          </a:p>
          <a:p>
            <a:pPr eaLnBrk="1" hangingPunct="1">
              <a:spcBef>
                <a:spcPct val="0"/>
              </a:spcBef>
              <a:spcAft>
                <a:spcPts val="700"/>
              </a:spcAft>
              <a:buFontTx/>
              <a:buNone/>
            </a:pPr>
            <a:r>
              <a:rPr lang="zh-CN" altLang="zh-CN" sz="1400">
                <a:solidFill>
                  <a:srgbClr val="1F2937"/>
                </a:solidFill>
                <a:latin typeface="Aptos" panose="020B0004020202020204" pitchFamily="34" charset="0"/>
              </a:rPr>
              <a:t>A summary can miss material risk disclosures, use stale source information, or include weak claims.</a:t>
            </a:r>
          </a:p>
          <a:p>
            <a:pPr eaLnBrk="1" hangingPunct="1">
              <a:spcBef>
                <a:spcPct val="0"/>
              </a:spcBef>
              <a:spcAft>
                <a:spcPts val="700"/>
              </a:spcAft>
              <a:buFontTx/>
              <a:buNone/>
            </a:pPr>
            <a:r>
              <a:rPr lang="zh-CN" altLang="zh-CN" sz="1400">
                <a:solidFill>
                  <a:srgbClr val="1F2937"/>
                </a:solidFill>
                <a:latin typeface="Aptos" panose="020B0004020202020204" pitchFamily="34" charset="0"/>
              </a:rPr>
              <a:t>Without traceability and review, users may trust an output too quickly.</a:t>
            </a:r>
          </a:p>
          <a:p>
            <a:pPr eaLnBrk="1" hangingPunct="1">
              <a:spcBef>
                <a:spcPct val="0"/>
              </a:spcBef>
              <a:spcAft>
                <a:spcPts val="700"/>
              </a:spcAft>
              <a:buFontTx/>
              <a:buNone/>
            </a:pPr>
            <a:r>
              <a:rPr lang="zh-CN" altLang="zh-CN" sz="1400">
                <a:solidFill>
                  <a:srgbClr val="1F2937"/>
                </a:solidFill>
                <a:latin typeface="Aptos" panose="020B0004020202020204" pitchFamily="34" charset="0"/>
              </a:rPr>
              <a:t>So we chose one narrow workflow instead of trying to build a broad finance platform.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58A08E7-3CBE-52C9-FDE0-9090C0D9820C}"/>
              </a:ext>
            </a:extLst>
          </p:cNvPr>
          <p:cNvSpPr/>
          <p:nvPr/>
        </p:nvSpPr>
        <p:spPr>
          <a:xfrm>
            <a:off x="6327775" y="1006475"/>
            <a:ext cx="5303838" cy="4525963"/>
          </a:xfrm>
          <a:prstGeom prst="roundRect">
            <a:avLst/>
          </a:prstGeom>
          <a:solidFill>
            <a:srgbClr val="F8F9FB"/>
          </a:solidFill>
          <a:ln w="17780">
            <a:solidFill>
              <a:srgbClr val="248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3591B8A-1A77-A101-A3B2-F907DE118C5C}"/>
              </a:ext>
            </a:extLst>
          </p:cNvPr>
          <p:cNvSpPr/>
          <p:nvPr/>
        </p:nvSpPr>
        <p:spPr>
          <a:xfrm>
            <a:off x="6999288" y="1096963"/>
            <a:ext cx="1325562" cy="255587"/>
          </a:xfrm>
          <a:prstGeom prst="roundRect">
            <a:avLst/>
          </a:prstGeom>
          <a:solidFill>
            <a:srgbClr val="EDF3F8"/>
          </a:solidFill>
          <a:ln w="12700">
            <a:solidFill>
              <a:srgbClr val="248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E6442A-B5A1-9F2E-DCD4-0FD88D81DC32}"/>
              </a:ext>
            </a:extLst>
          </p:cNvPr>
          <p:cNvSpPr txBox="1"/>
          <p:nvPr/>
        </p:nvSpPr>
        <p:spPr>
          <a:xfrm>
            <a:off x="6999288" y="1120775"/>
            <a:ext cx="1171575" cy="146050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 b="1" dirty="0">
                <a:solidFill>
                  <a:srgbClr val="248C7D"/>
                </a:solidFill>
                <a:latin typeface="Aptos"/>
              </a:rPr>
              <a:t>What we built</a:t>
            </a:r>
          </a:p>
        </p:txBody>
      </p:sp>
      <p:sp>
        <p:nvSpPr>
          <p:cNvPr id="4109" name="TextBox 12">
            <a:extLst>
              <a:ext uri="{FF2B5EF4-FFF2-40B4-BE49-F238E27FC236}">
                <a16:creationId xmlns:a16="http://schemas.microsoft.com/office/drawing/2014/main" id="{3DF31394-3581-0E5A-AFC7-38AADAFD9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5900" y="1444625"/>
            <a:ext cx="4800600" cy="356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700"/>
              </a:spcAft>
              <a:buFontTx/>
              <a:buNone/>
            </a:pPr>
            <a:r>
              <a:rPr lang="zh-CN" altLang="zh-CN" sz="1400">
                <a:solidFill>
                  <a:srgbClr val="1F2937"/>
                </a:solidFill>
                <a:latin typeface="Aptos" panose="020B0004020202020204" pitchFamily="34" charset="0"/>
              </a:rPr>
              <a:t>An internal AI-assisted financial research summary workflow.</a:t>
            </a:r>
          </a:p>
          <a:p>
            <a:pPr eaLnBrk="1" hangingPunct="1">
              <a:spcBef>
                <a:spcPct val="0"/>
              </a:spcBef>
              <a:spcAft>
                <a:spcPts val="700"/>
              </a:spcAft>
              <a:buFontTx/>
              <a:buNone/>
            </a:pPr>
            <a:r>
              <a:rPr lang="zh-CN" altLang="zh-CN" sz="1400">
                <a:solidFill>
                  <a:srgbClr val="1F2937"/>
                </a:solidFill>
                <a:latin typeface="Aptos" panose="020B0004020202020204" pitchFamily="34" charset="0"/>
              </a:rPr>
              <a:t>Main input: public company disclosures.</a:t>
            </a:r>
          </a:p>
          <a:p>
            <a:pPr eaLnBrk="1" hangingPunct="1">
              <a:spcBef>
                <a:spcPct val="0"/>
              </a:spcBef>
              <a:spcAft>
                <a:spcPts val="700"/>
              </a:spcAft>
              <a:buFontTx/>
              <a:buNone/>
            </a:pPr>
            <a:r>
              <a:rPr lang="zh-CN" altLang="zh-CN" sz="1400">
                <a:solidFill>
                  <a:srgbClr val="1F2937"/>
                </a:solidFill>
                <a:latin typeface="Aptos" panose="020B0004020202020204" pitchFamily="34" charset="0"/>
              </a:rPr>
              <a:t>Main output: a first-draft summary plus control results and release status.</a:t>
            </a:r>
          </a:p>
          <a:p>
            <a:pPr eaLnBrk="1" hangingPunct="1">
              <a:spcBef>
                <a:spcPct val="0"/>
              </a:spcBef>
              <a:spcAft>
                <a:spcPts val="700"/>
              </a:spcAft>
              <a:buFontTx/>
              <a:buNone/>
            </a:pPr>
            <a:r>
              <a:rPr lang="zh-CN" altLang="zh-CN" sz="1400">
                <a:solidFill>
                  <a:srgbClr val="1F2937"/>
                </a:solidFill>
                <a:latin typeface="Aptos" panose="020B0004020202020204" pitchFamily="34" charset="0"/>
              </a:rPr>
              <a:t>Not a public chatbot, not a trading bot, and not an autonomous investment platform.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D71688-65FF-49D9-2B43-E3A85C0C9BF2}"/>
              </a:ext>
            </a:extLst>
          </p:cNvPr>
          <p:cNvSpPr/>
          <p:nvPr/>
        </p:nvSpPr>
        <p:spPr>
          <a:xfrm>
            <a:off x="347663" y="6446838"/>
            <a:ext cx="11493500" cy="17462"/>
          </a:xfrm>
          <a:prstGeom prst="rect">
            <a:avLst/>
          </a:prstGeom>
          <a:solidFill>
            <a:srgbClr val="D2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7C556B-48C1-4C05-E2DF-29FDF14A3E1D}"/>
              </a:ext>
            </a:extLst>
          </p:cNvPr>
          <p:cNvSpPr txBox="1"/>
          <p:nvPr/>
        </p:nvSpPr>
        <p:spPr>
          <a:xfrm>
            <a:off x="411163" y="6473825"/>
            <a:ext cx="9144000" cy="1095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850">
                <a:solidFill>
                  <a:srgbClr val="6B7280"/>
                </a:solidFill>
                <a:latin typeface="Aptos"/>
              </a:rPr>
              <a:t>NovaVest Research Summary Assistant v1 · ME575 Final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A80B84-CBBD-E9E7-AABC-7B0FD36DE9F4}"/>
              </a:ext>
            </a:extLst>
          </p:cNvPr>
          <p:cNvSpPr/>
          <p:nvPr/>
        </p:nvSpPr>
        <p:spPr>
          <a:xfrm>
            <a:off x="0" y="0"/>
            <a:ext cx="12192000" cy="658813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6147" name="TextBox 2">
            <a:extLst>
              <a:ext uri="{FF2B5EF4-FFF2-40B4-BE49-F238E27FC236}">
                <a16:creationId xmlns:a16="http://schemas.microsoft.com/office/drawing/2014/main" id="{B6FF2D2C-166C-8763-C1C3-E7638392E3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163" y="109538"/>
            <a:ext cx="106076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400" b="1">
                <a:solidFill>
                  <a:srgbClr val="FFFFFF"/>
                </a:solidFill>
                <a:latin typeface="Aptos Display" panose="020B0004020202020204" pitchFamily="34" charset="0"/>
              </a:rPr>
              <a:t>2. Governance risks and mandatory controls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D825CC-EDAF-904B-309D-B6C37DF7AFB6}"/>
              </a:ext>
            </a:extLst>
          </p:cNvPr>
          <p:cNvSpPr txBox="1"/>
          <p:nvPr/>
        </p:nvSpPr>
        <p:spPr>
          <a:xfrm>
            <a:off x="430213" y="411163"/>
            <a:ext cx="9875837" cy="165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950">
                <a:solidFill>
                  <a:srgbClr val="D6E1F0"/>
                </a:solidFill>
                <a:latin typeface="Aptos"/>
              </a:rPr>
              <a:t>The governance design was built around a few specific failure modes</a:t>
            </a:r>
          </a:p>
        </p:txBody>
      </p:sp>
      <p:sp>
        <p:nvSpPr>
          <p:cNvPr id="6149" name="TextBox 4">
            <a:extLst>
              <a:ext uri="{FF2B5EF4-FFF2-40B4-BE49-F238E27FC236}">
                <a16:creationId xmlns:a16="http://schemas.microsoft.com/office/drawing/2014/main" id="{1BC81EFE-B946-B358-1FB0-A87AF10398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76038" y="146050"/>
            <a:ext cx="319087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zh-CN" altLang="zh-CN" sz="1300" b="1">
                <a:solidFill>
                  <a:srgbClr val="D6E1F0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6150" name="TextBox 5">
            <a:extLst>
              <a:ext uri="{FF2B5EF4-FFF2-40B4-BE49-F238E27FC236}">
                <a16:creationId xmlns:a16="http://schemas.microsoft.com/office/drawing/2014/main" id="{1E4B2628-2BD2-3965-B3B8-AA10836B1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738" y="895350"/>
            <a:ext cx="4572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7432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800" b="1">
                <a:solidFill>
                  <a:srgbClr val="1F2937"/>
                </a:solidFill>
                <a:latin typeface="Aptos" panose="020B0004020202020204" pitchFamily="34" charset="0"/>
              </a:rPr>
              <a:t>Main governance risks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A1BC0B8-64B2-6AE7-13C4-A60B8C5F2BB9}"/>
              </a:ext>
            </a:extLst>
          </p:cNvPr>
          <p:cNvSpPr/>
          <p:nvPr/>
        </p:nvSpPr>
        <p:spPr>
          <a:xfrm>
            <a:off x="566738" y="1235075"/>
            <a:ext cx="2487612" cy="11699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8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EACA78B-204E-C39D-EE6A-4112593B4D5D}"/>
              </a:ext>
            </a:extLst>
          </p:cNvPr>
          <p:cNvSpPr/>
          <p:nvPr/>
        </p:nvSpPr>
        <p:spPr>
          <a:xfrm>
            <a:off x="676275" y="1325563"/>
            <a:ext cx="1938338" cy="255587"/>
          </a:xfrm>
          <a:prstGeom prst="roundRect">
            <a:avLst/>
          </a:prstGeom>
          <a:solidFill>
            <a:srgbClr val="EDF3F8"/>
          </a:solidFill>
          <a:ln w="12700">
            <a:solidFill>
              <a:srgbClr val="B8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B22483-47C7-51DD-B0C3-6FBE09564CA9}"/>
              </a:ext>
            </a:extLst>
          </p:cNvPr>
          <p:cNvSpPr txBox="1"/>
          <p:nvPr/>
        </p:nvSpPr>
        <p:spPr>
          <a:xfrm>
            <a:off x="731838" y="1349375"/>
            <a:ext cx="1527175" cy="231775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 b="1" dirty="0">
                <a:solidFill>
                  <a:srgbClr val="B83E3E"/>
                </a:solidFill>
                <a:latin typeface="Aptos"/>
              </a:rPr>
              <a:t>Unsupported claims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4CAC7B-DD4A-6171-A3EF-EE7FEFED3B95}"/>
              </a:ext>
            </a:extLst>
          </p:cNvPr>
          <p:cNvSpPr txBox="1"/>
          <p:nvPr/>
        </p:nvSpPr>
        <p:spPr>
          <a:xfrm>
            <a:off x="695325" y="1673225"/>
            <a:ext cx="2230438" cy="639763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>
                <a:solidFill>
                  <a:srgbClr val="1F2937"/>
                </a:solidFill>
                <a:latin typeface="Aptos"/>
              </a:rPr>
              <a:t>The draft may say something that is not clearly grounded in the source.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8CF7026-F88C-B8AC-2F11-FB10C286B952}"/>
              </a:ext>
            </a:extLst>
          </p:cNvPr>
          <p:cNvSpPr/>
          <p:nvPr/>
        </p:nvSpPr>
        <p:spPr>
          <a:xfrm>
            <a:off x="3309938" y="1235075"/>
            <a:ext cx="2487612" cy="11699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C8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E0370D2-87C4-60A6-AF3C-B2AD5FA6BF9D}"/>
              </a:ext>
            </a:extLst>
          </p:cNvPr>
          <p:cNvSpPr/>
          <p:nvPr/>
        </p:nvSpPr>
        <p:spPr>
          <a:xfrm>
            <a:off x="3419475" y="1325563"/>
            <a:ext cx="1574800" cy="301625"/>
          </a:xfrm>
          <a:prstGeom prst="roundRect">
            <a:avLst/>
          </a:prstGeom>
          <a:solidFill>
            <a:srgbClr val="F9F0E4"/>
          </a:solidFill>
          <a:ln w="12700">
            <a:solidFill>
              <a:srgbClr val="DC8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F792EF-784F-A637-80AB-C3EB6CF00EDB}"/>
              </a:ext>
            </a:extLst>
          </p:cNvPr>
          <p:cNvSpPr txBox="1"/>
          <p:nvPr/>
        </p:nvSpPr>
        <p:spPr>
          <a:xfrm>
            <a:off x="3475038" y="1349375"/>
            <a:ext cx="1381125" cy="231775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 b="1" dirty="0">
                <a:solidFill>
                  <a:srgbClr val="DC862D"/>
                </a:solidFill>
                <a:latin typeface="Aptos"/>
              </a:rPr>
              <a:t>Missing categories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13F421-7E09-F799-7160-8D6395BDD78C}"/>
              </a:ext>
            </a:extLst>
          </p:cNvPr>
          <p:cNvSpPr txBox="1"/>
          <p:nvPr/>
        </p:nvSpPr>
        <p:spPr>
          <a:xfrm>
            <a:off x="3438525" y="1673225"/>
            <a:ext cx="2230438" cy="639763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>
                <a:solidFill>
                  <a:srgbClr val="1F2937"/>
                </a:solidFill>
                <a:latin typeface="Aptos"/>
              </a:rPr>
              <a:t>The draft may omit a material disclosed risk category.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6539991-50AB-4D8D-15EC-4B35EE0E994B}"/>
              </a:ext>
            </a:extLst>
          </p:cNvPr>
          <p:cNvSpPr/>
          <p:nvPr/>
        </p:nvSpPr>
        <p:spPr>
          <a:xfrm>
            <a:off x="566738" y="2762250"/>
            <a:ext cx="2487612" cy="11699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F5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91957C2-D1DA-F173-76D6-C88559D98042}"/>
              </a:ext>
            </a:extLst>
          </p:cNvPr>
          <p:cNvSpPr/>
          <p:nvPr/>
        </p:nvSpPr>
        <p:spPr>
          <a:xfrm>
            <a:off x="676275" y="2852738"/>
            <a:ext cx="1325563" cy="255587"/>
          </a:xfrm>
          <a:prstGeom prst="roundRect">
            <a:avLst/>
          </a:prstGeom>
          <a:solidFill>
            <a:srgbClr val="EDF3F8"/>
          </a:solidFill>
          <a:ln w="12700">
            <a:solidFill>
              <a:srgbClr val="2F5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18E354-457A-B772-E4D6-D69CE6615826}"/>
              </a:ext>
            </a:extLst>
          </p:cNvPr>
          <p:cNvSpPr txBox="1"/>
          <p:nvPr/>
        </p:nvSpPr>
        <p:spPr>
          <a:xfrm>
            <a:off x="731838" y="2876550"/>
            <a:ext cx="1169987" cy="146050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 b="1">
                <a:solidFill>
                  <a:srgbClr val="2F5EAB"/>
                </a:solidFill>
                <a:latin typeface="Aptos"/>
              </a:rPr>
              <a:t>Stale sources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87414C-6119-0572-35A0-90F5BF37CC67}"/>
              </a:ext>
            </a:extLst>
          </p:cNvPr>
          <p:cNvSpPr txBox="1"/>
          <p:nvPr/>
        </p:nvSpPr>
        <p:spPr>
          <a:xfrm>
            <a:off x="695325" y="3200400"/>
            <a:ext cx="2230438" cy="639763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>
                <a:solidFill>
                  <a:srgbClr val="1F2937"/>
                </a:solidFill>
                <a:latin typeface="Aptos"/>
              </a:rPr>
              <a:t>Older disclosures may no longer reflect the current situation.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154504C-1AD5-9664-0EC4-1A2D89BAA501}"/>
              </a:ext>
            </a:extLst>
          </p:cNvPr>
          <p:cNvSpPr/>
          <p:nvPr/>
        </p:nvSpPr>
        <p:spPr>
          <a:xfrm>
            <a:off x="3309938" y="2762250"/>
            <a:ext cx="2487612" cy="11699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8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77CBD4D-8178-B813-7105-0AD150267E9A}"/>
              </a:ext>
            </a:extLst>
          </p:cNvPr>
          <p:cNvSpPr/>
          <p:nvPr/>
        </p:nvSpPr>
        <p:spPr>
          <a:xfrm>
            <a:off x="3419475" y="2852738"/>
            <a:ext cx="1573213" cy="255587"/>
          </a:xfrm>
          <a:prstGeom prst="roundRect">
            <a:avLst/>
          </a:prstGeom>
          <a:solidFill>
            <a:srgbClr val="EDF3F8"/>
          </a:solidFill>
          <a:ln w="12700">
            <a:solidFill>
              <a:srgbClr val="248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2B085D-9288-0C02-4611-5B19EC5C4A7E}"/>
              </a:ext>
            </a:extLst>
          </p:cNvPr>
          <p:cNvSpPr txBox="1"/>
          <p:nvPr/>
        </p:nvSpPr>
        <p:spPr>
          <a:xfrm>
            <a:off x="3475038" y="2876550"/>
            <a:ext cx="1517650" cy="231775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 b="1" dirty="0">
                <a:solidFill>
                  <a:srgbClr val="248C7D"/>
                </a:solidFill>
                <a:latin typeface="Aptos"/>
              </a:rPr>
              <a:t>Weak accountability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96B03C-88C8-45D2-D8C2-3726CBEA1C69}"/>
              </a:ext>
            </a:extLst>
          </p:cNvPr>
          <p:cNvSpPr txBox="1"/>
          <p:nvPr/>
        </p:nvSpPr>
        <p:spPr>
          <a:xfrm>
            <a:off x="3438525" y="3200400"/>
            <a:ext cx="2230438" cy="639763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>
                <a:solidFill>
                  <a:srgbClr val="1F2937"/>
                </a:solidFill>
                <a:latin typeface="Aptos"/>
              </a:rPr>
              <a:t>Without sign-offs and evidence, users may not know who reviewed what.</a:t>
            </a:r>
          </a:p>
        </p:txBody>
      </p:sp>
      <p:sp>
        <p:nvSpPr>
          <p:cNvPr id="6167" name="TextBox 22">
            <a:extLst>
              <a:ext uri="{FF2B5EF4-FFF2-40B4-BE49-F238E27FC236}">
                <a16:creationId xmlns:a16="http://schemas.microsoft.com/office/drawing/2014/main" id="{69F6919C-2CA3-8F98-F632-ED160D463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895350"/>
            <a:ext cx="47545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7432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800" b="1">
                <a:solidFill>
                  <a:srgbClr val="1F2937"/>
                </a:solidFill>
                <a:latin typeface="Aptos" panose="020B0004020202020204" pitchFamily="34" charset="0"/>
              </a:rPr>
              <a:t>Frozen control set used in the prototype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903C156E-8C47-A367-9874-4C0CFEA7FE85}"/>
              </a:ext>
            </a:extLst>
          </p:cNvPr>
          <p:cNvGraphicFramePr>
            <a:graphicFrameLocks noGrp="1"/>
          </p:cNvGraphicFramePr>
          <p:nvPr/>
        </p:nvGraphicFramePr>
        <p:xfrm>
          <a:off x="6145213" y="1235075"/>
          <a:ext cx="5257800" cy="4159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9906"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100"/>
                        <a:t>Control</a:t>
                      </a:r>
                    </a:p>
                  </a:txBody>
                  <a:tcPr marL="45720" marR="45720" marT="27424" marB="27424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100"/>
                        <a:t>Main role</a:t>
                      </a:r>
                    </a:p>
                  </a:txBody>
                  <a:tcPr marL="45720" marR="45720" marT="27424" marB="27424">
                    <a:solidFill>
                      <a:srgbClr val="182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906"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rPr sz="1100"/>
                        <a:t>C1.1</a:t>
                      </a:r>
                    </a:p>
                  </a:txBody>
                  <a:tcPr marL="45720" marR="45720" marT="27424" marB="2742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rPr sz="1100"/>
                        <a:t>Source-grounding check</a:t>
                      </a:r>
                    </a:p>
                  </a:txBody>
                  <a:tcPr marL="45720" marR="45720" marT="27424" marB="2742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906"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rPr sz="1100"/>
                        <a:t>C1.2</a:t>
                      </a:r>
                    </a:p>
                  </a:txBody>
                  <a:tcPr marL="45720" marR="45720" marT="27424" marB="27424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rPr sz="1100"/>
                        <a:t>Reviewer claim verification</a:t>
                      </a:r>
                    </a:p>
                  </a:txBody>
                  <a:tcPr marL="45720" marR="45720" marT="27424" marB="27424"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906"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rPr sz="1100"/>
                        <a:t>C2.1</a:t>
                      </a:r>
                    </a:p>
                  </a:txBody>
                  <a:tcPr marL="45720" marR="45720" marT="27424" marB="2742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rPr sz="1100"/>
                        <a:t>Risk-factor coverage check</a:t>
                      </a:r>
                    </a:p>
                  </a:txBody>
                  <a:tcPr marL="45720" marR="45720" marT="27424" marB="2742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9906"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rPr sz="1100"/>
                        <a:t>C3.1</a:t>
                      </a:r>
                    </a:p>
                  </a:txBody>
                  <a:tcPr marL="45720" marR="45720" marT="27424" marB="27424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rPr sz="1100"/>
                        <a:t>Source freshness validation</a:t>
                      </a:r>
                    </a:p>
                  </a:txBody>
                  <a:tcPr marL="45720" marR="45720" marT="27424" marB="27424"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9906"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rPr sz="1100"/>
                        <a:t>C4.2</a:t>
                      </a:r>
                    </a:p>
                  </a:txBody>
                  <a:tcPr marL="45720" marR="45720" marT="27424" marB="2742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rPr sz="1100"/>
                        <a:t>Analyst sign-off before release</a:t>
                      </a:r>
                    </a:p>
                  </a:txBody>
                  <a:tcPr marL="45720" marR="45720" marT="27424" marB="2742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9906"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rPr sz="1100"/>
                        <a:t>C5.1</a:t>
                      </a:r>
                    </a:p>
                  </a:txBody>
                  <a:tcPr marL="45720" marR="45720" marT="27424" marB="27424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rPr sz="1100"/>
                        <a:t>Evidence-pack capture</a:t>
                      </a:r>
                    </a:p>
                  </a:txBody>
                  <a:tcPr marL="45720" marR="45720" marT="27424" marB="27424"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9906"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rPr sz="1100"/>
                        <a:t>C6.1</a:t>
                      </a:r>
                    </a:p>
                  </a:txBody>
                  <a:tcPr marL="45720" marR="45720" marT="27424" marB="2742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rPr sz="1100"/>
                        <a:t>Escalation and release routing</a:t>
                      </a:r>
                    </a:p>
                  </a:txBody>
                  <a:tcPr marL="45720" marR="45720" marT="27424" marB="2742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Rectangle 24">
            <a:extLst>
              <a:ext uri="{FF2B5EF4-FFF2-40B4-BE49-F238E27FC236}">
                <a16:creationId xmlns:a16="http://schemas.microsoft.com/office/drawing/2014/main" id="{D9135F70-2A59-E9F3-8A4D-066BED3FA240}"/>
              </a:ext>
            </a:extLst>
          </p:cNvPr>
          <p:cNvSpPr/>
          <p:nvPr/>
        </p:nvSpPr>
        <p:spPr>
          <a:xfrm>
            <a:off x="347663" y="6446838"/>
            <a:ext cx="11493500" cy="17462"/>
          </a:xfrm>
          <a:prstGeom prst="rect">
            <a:avLst/>
          </a:prstGeom>
          <a:solidFill>
            <a:srgbClr val="D2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A07951-9EF4-1429-F896-41BEFA1E381D}"/>
              </a:ext>
            </a:extLst>
          </p:cNvPr>
          <p:cNvSpPr txBox="1"/>
          <p:nvPr/>
        </p:nvSpPr>
        <p:spPr>
          <a:xfrm>
            <a:off x="411163" y="6473825"/>
            <a:ext cx="9144000" cy="1095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850">
                <a:solidFill>
                  <a:srgbClr val="6B7280"/>
                </a:solidFill>
                <a:latin typeface="Aptos"/>
              </a:rPr>
              <a:t>NovaVest Research Summary Assistant v1 · ME575 Final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50C56E-8E93-CAA7-DD41-2325A8A88390}"/>
              </a:ext>
            </a:extLst>
          </p:cNvPr>
          <p:cNvSpPr/>
          <p:nvPr/>
        </p:nvSpPr>
        <p:spPr>
          <a:xfrm>
            <a:off x="0" y="0"/>
            <a:ext cx="12192000" cy="658813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8195" name="TextBox 2">
            <a:extLst>
              <a:ext uri="{FF2B5EF4-FFF2-40B4-BE49-F238E27FC236}">
                <a16:creationId xmlns:a16="http://schemas.microsoft.com/office/drawing/2014/main" id="{AA46CE41-8264-9F4E-E259-BF266187F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163" y="109538"/>
            <a:ext cx="106076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400" b="1">
                <a:solidFill>
                  <a:srgbClr val="FFFFFF"/>
                </a:solidFill>
                <a:latin typeface="Aptos Display" panose="020B0004020202020204" pitchFamily="34" charset="0"/>
              </a:rPr>
              <a:t>3. Three Lines of Defense and tiering journey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CB8AC4-CB0B-6255-734C-0594497B7387}"/>
              </a:ext>
            </a:extLst>
          </p:cNvPr>
          <p:cNvSpPr txBox="1"/>
          <p:nvPr/>
        </p:nvSpPr>
        <p:spPr>
          <a:xfrm>
            <a:off x="430213" y="411163"/>
            <a:ext cx="9875837" cy="165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950">
                <a:solidFill>
                  <a:srgbClr val="D6E1F0"/>
                </a:solidFill>
                <a:latin typeface="Aptos"/>
              </a:rPr>
              <a:t>How the project moved from owner assessment to official tiering and audit review</a:t>
            </a:r>
          </a:p>
        </p:txBody>
      </p:sp>
      <p:sp>
        <p:nvSpPr>
          <p:cNvPr id="8197" name="TextBox 4">
            <a:extLst>
              <a:ext uri="{FF2B5EF4-FFF2-40B4-BE49-F238E27FC236}">
                <a16:creationId xmlns:a16="http://schemas.microsoft.com/office/drawing/2014/main" id="{DDE09778-E6F4-F8E7-6371-947547F2FA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76038" y="146050"/>
            <a:ext cx="319087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zh-CN" altLang="zh-CN" sz="1300" b="1">
                <a:solidFill>
                  <a:srgbClr val="D6E1F0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8BFD21-DA7B-F6C1-E87F-F724D4DB754E}"/>
              </a:ext>
            </a:extLst>
          </p:cNvPr>
          <p:cNvSpPr/>
          <p:nvPr/>
        </p:nvSpPr>
        <p:spPr>
          <a:xfrm>
            <a:off x="914400" y="1417638"/>
            <a:ext cx="9966325" cy="26987"/>
          </a:xfrm>
          <a:prstGeom prst="rect">
            <a:avLst/>
          </a:prstGeom>
          <a:solidFill>
            <a:srgbClr val="D2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38DE3BF-A86F-25B8-FA54-39CB4A00903D}"/>
              </a:ext>
            </a:extLst>
          </p:cNvPr>
          <p:cNvSpPr/>
          <p:nvPr/>
        </p:nvSpPr>
        <p:spPr>
          <a:xfrm>
            <a:off x="1527175" y="1169988"/>
            <a:ext cx="511175" cy="512762"/>
          </a:xfrm>
          <a:prstGeom prst="ellipse">
            <a:avLst/>
          </a:prstGeom>
          <a:solidFill>
            <a:srgbClr val="2F5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0B0102-395B-BBC7-86A8-FE2A6B9F26EF}"/>
              </a:ext>
            </a:extLst>
          </p:cNvPr>
          <p:cNvSpPr txBox="1"/>
          <p:nvPr/>
        </p:nvSpPr>
        <p:spPr>
          <a:xfrm>
            <a:off x="1627188" y="1335088"/>
            <a:ext cx="320675" cy="109537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950" b="1">
                <a:solidFill>
                  <a:srgbClr val="FFFFFF"/>
                </a:solidFill>
                <a:latin typeface="Aptos"/>
              </a:rPr>
              <a:t>LoD1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A00166D-D460-9516-30B3-DDDBE0ECABE4}"/>
              </a:ext>
            </a:extLst>
          </p:cNvPr>
          <p:cNvSpPr/>
          <p:nvPr/>
        </p:nvSpPr>
        <p:spPr>
          <a:xfrm>
            <a:off x="549275" y="1782763"/>
            <a:ext cx="2468563" cy="2332037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F5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0FBAFAC-E732-EB80-7CE3-BFB0CBB4C6D7}"/>
              </a:ext>
            </a:extLst>
          </p:cNvPr>
          <p:cNvSpPr/>
          <p:nvPr/>
        </p:nvSpPr>
        <p:spPr>
          <a:xfrm>
            <a:off x="658813" y="1874838"/>
            <a:ext cx="1979612" cy="255587"/>
          </a:xfrm>
          <a:prstGeom prst="roundRect">
            <a:avLst/>
          </a:prstGeom>
          <a:solidFill>
            <a:srgbClr val="EDF3F8"/>
          </a:solidFill>
          <a:ln w="12700">
            <a:solidFill>
              <a:srgbClr val="2F5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21A603-4CC9-FEB2-B4E9-C449B5579421}"/>
              </a:ext>
            </a:extLst>
          </p:cNvPr>
          <p:cNvSpPr txBox="1"/>
          <p:nvPr/>
        </p:nvSpPr>
        <p:spPr>
          <a:xfrm>
            <a:off x="712788" y="1897063"/>
            <a:ext cx="1690687" cy="233362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 b="1" dirty="0">
                <a:solidFill>
                  <a:srgbClr val="2F5EAB"/>
                </a:solidFill>
                <a:latin typeface="Aptos"/>
              </a:rPr>
              <a:t>First-line registration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85B4D8-08D6-2CAE-6FAD-1A141023561F}"/>
              </a:ext>
            </a:extLst>
          </p:cNvPr>
          <p:cNvSpPr txBox="1"/>
          <p:nvPr/>
        </p:nvSpPr>
        <p:spPr>
          <a:xfrm>
            <a:off x="676275" y="2222500"/>
            <a:ext cx="2212975" cy="1800225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>
                <a:solidFill>
                  <a:srgbClr val="1F2937"/>
                </a:solidFill>
                <a:latin typeface="Aptos"/>
              </a:rPr>
              <a:t>System registered. Owner risk narrative, mitigations, and open questions completed.
Initial result: Tier 2 / score 15.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E3F6B60-0D63-D7C5-FDD3-A6BF4E603499}"/>
              </a:ext>
            </a:extLst>
          </p:cNvPr>
          <p:cNvSpPr/>
          <p:nvPr/>
        </p:nvSpPr>
        <p:spPr>
          <a:xfrm>
            <a:off x="5230813" y="1169988"/>
            <a:ext cx="511175" cy="512762"/>
          </a:xfrm>
          <a:prstGeom prst="ellipse">
            <a:avLst/>
          </a:prstGeom>
          <a:solidFill>
            <a:srgbClr val="248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7B9117-C2E1-6D41-3A6C-72DDD14E5E16}"/>
              </a:ext>
            </a:extLst>
          </p:cNvPr>
          <p:cNvSpPr txBox="1"/>
          <p:nvPr/>
        </p:nvSpPr>
        <p:spPr>
          <a:xfrm>
            <a:off x="5330825" y="1335088"/>
            <a:ext cx="320675" cy="109537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950" b="1">
                <a:solidFill>
                  <a:srgbClr val="FFFFFF"/>
                </a:solidFill>
                <a:latin typeface="Aptos"/>
              </a:rPr>
              <a:t>LoD2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4D2D6DC-16FA-442A-0288-3B7368ECEECF}"/>
              </a:ext>
            </a:extLst>
          </p:cNvPr>
          <p:cNvSpPr/>
          <p:nvPr/>
        </p:nvSpPr>
        <p:spPr>
          <a:xfrm>
            <a:off x="4251325" y="1782763"/>
            <a:ext cx="2470150" cy="2332037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8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74FE27A-8D4C-0DDE-8474-668D0579B5BE}"/>
              </a:ext>
            </a:extLst>
          </p:cNvPr>
          <p:cNvSpPr/>
          <p:nvPr/>
        </p:nvSpPr>
        <p:spPr>
          <a:xfrm>
            <a:off x="4362450" y="1874838"/>
            <a:ext cx="1968500" cy="246062"/>
          </a:xfrm>
          <a:prstGeom prst="roundRect">
            <a:avLst/>
          </a:prstGeom>
          <a:solidFill>
            <a:srgbClr val="EDF3F8"/>
          </a:solidFill>
          <a:ln w="12700">
            <a:solidFill>
              <a:srgbClr val="248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A3E7F7-BCA8-4E86-9DF0-754A6DA3BC55}"/>
              </a:ext>
            </a:extLst>
          </p:cNvPr>
          <p:cNvSpPr txBox="1"/>
          <p:nvPr/>
        </p:nvSpPr>
        <p:spPr>
          <a:xfrm>
            <a:off x="4416425" y="1897063"/>
            <a:ext cx="1820863" cy="233362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 b="1" dirty="0">
                <a:solidFill>
                  <a:srgbClr val="248C7D"/>
                </a:solidFill>
                <a:latin typeface="Aptos"/>
              </a:rPr>
              <a:t>Second-line MRM tiering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C95D6E-2067-061B-F2C5-21EE390701B1}"/>
              </a:ext>
            </a:extLst>
          </p:cNvPr>
          <p:cNvSpPr txBox="1"/>
          <p:nvPr/>
        </p:nvSpPr>
        <p:spPr>
          <a:xfrm>
            <a:off x="4379913" y="2222500"/>
            <a:ext cx="2212975" cy="1800225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>
                <a:solidFill>
                  <a:srgbClr val="1F2937"/>
                </a:solidFill>
                <a:latin typeface="Aptos"/>
              </a:rPr>
              <a:t>Independent MRM challenge completed. Official result changed to Tier 1 / score 28. Required controls and executive summary generated.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FF23667-0AB9-0BA4-CC31-35EFDA1F2517}"/>
              </a:ext>
            </a:extLst>
          </p:cNvPr>
          <p:cNvSpPr/>
          <p:nvPr/>
        </p:nvSpPr>
        <p:spPr>
          <a:xfrm>
            <a:off x="8934450" y="1169988"/>
            <a:ext cx="511175" cy="512762"/>
          </a:xfrm>
          <a:prstGeom prst="ellipse">
            <a:avLst/>
          </a:prstGeom>
          <a:solidFill>
            <a:srgbClr val="DC8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08ED12-79B6-6CEC-1000-75675A363DD9}"/>
              </a:ext>
            </a:extLst>
          </p:cNvPr>
          <p:cNvSpPr txBox="1"/>
          <p:nvPr/>
        </p:nvSpPr>
        <p:spPr>
          <a:xfrm>
            <a:off x="9034463" y="1335088"/>
            <a:ext cx="319087" cy="109537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950" b="1">
                <a:solidFill>
                  <a:srgbClr val="FFFFFF"/>
                </a:solidFill>
                <a:latin typeface="Aptos"/>
              </a:rPr>
              <a:t>LoD3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1811381-488D-A7DD-286A-FAC48F154703}"/>
              </a:ext>
            </a:extLst>
          </p:cNvPr>
          <p:cNvSpPr/>
          <p:nvPr/>
        </p:nvSpPr>
        <p:spPr>
          <a:xfrm>
            <a:off x="7954963" y="1782763"/>
            <a:ext cx="2468562" cy="2332037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C8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3823134-1323-02C7-4923-25A3268FBF04}"/>
              </a:ext>
            </a:extLst>
          </p:cNvPr>
          <p:cNvSpPr/>
          <p:nvPr/>
        </p:nvSpPr>
        <p:spPr>
          <a:xfrm>
            <a:off x="8064500" y="1874838"/>
            <a:ext cx="1327150" cy="255587"/>
          </a:xfrm>
          <a:prstGeom prst="roundRect">
            <a:avLst/>
          </a:prstGeom>
          <a:solidFill>
            <a:srgbClr val="F9F0E4"/>
          </a:solidFill>
          <a:ln w="12700">
            <a:solidFill>
              <a:srgbClr val="DC8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CA5049-FD19-DCF0-2E77-E35E2DE44F82}"/>
              </a:ext>
            </a:extLst>
          </p:cNvPr>
          <p:cNvSpPr txBox="1"/>
          <p:nvPr/>
        </p:nvSpPr>
        <p:spPr>
          <a:xfrm>
            <a:off x="8120063" y="1897063"/>
            <a:ext cx="1169987" cy="146050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 b="1">
                <a:solidFill>
                  <a:srgbClr val="DC862D"/>
                </a:solidFill>
                <a:latin typeface="Aptos"/>
              </a:rPr>
              <a:t>Third-line audit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A168BC-BEF6-0251-0D2B-4DC986E38F09}"/>
              </a:ext>
            </a:extLst>
          </p:cNvPr>
          <p:cNvSpPr txBox="1"/>
          <p:nvPr/>
        </p:nvSpPr>
        <p:spPr>
          <a:xfrm>
            <a:off x="8083550" y="2222500"/>
            <a:ext cx="2212975" cy="1800225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>
                <a:solidFill>
                  <a:srgbClr val="1F2937"/>
                </a:solidFill>
                <a:latin typeface="Aptos"/>
              </a:rPr>
              <a:t>Audit confirmed documentation completeness and tier reproducibility. It also found several required controls still in progress.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E128730-7F36-A080-93AF-1707E9D8D34C}"/>
              </a:ext>
            </a:extLst>
          </p:cNvPr>
          <p:cNvSpPr/>
          <p:nvPr/>
        </p:nvSpPr>
        <p:spPr>
          <a:xfrm>
            <a:off x="868363" y="4664075"/>
            <a:ext cx="10469562" cy="914400"/>
          </a:xfrm>
          <a:prstGeom prst="roundRect">
            <a:avLst/>
          </a:prstGeom>
          <a:solidFill>
            <a:srgbClr val="F8F9FB"/>
          </a:solidFill>
          <a:ln w="17780">
            <a:solidFill>
              <a:srgbClr val="2F5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6CD4639-8AFA-D8FC-4637-7AA9EF162F90}"/>
              </a:ext>
            </a:extLst>
          </p:cNvPr>
          <p:cNvSpPr/>
          <p:nvPr/>
        </p:nvSpPr>
        <p:spPr>
          <a:xfrm>
            <a:off x="977900" y="4754563"/>
            <a:ext cx="1327150" cy="255587"/>
          </a:xfrm>
          <a:prstGeom prst="roundRect">
            <a:avLst/>
          </a:prstGeom>
          <a:solidFill>
            <a:srgbClr val="EDF3F8"/>
          </a:solidFill>
          <a:ln w="12700">
            <a:solidFill>
              <a:srgbClr val="2F5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CE65A50-EE0E-543B-AE21-E0741BFA29CB}"/>
              </a:ext>
            </a:extLst>
          </p:cNvPr>
          <p:cNvSpPr txBox="1"/>
          <p:nvPr/>
        </p:nvSpPr>
        <p:spPr>
          <a:xfrm>
            <a:off x="1033463" y="4778375"/>
            <a:ext cx="1169987" cy="146050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 b="1">
                <a:solidFill>
                  <a:srgbClr val="2F5EAB"/>
                </a:solidFill>
                <a:latin typeface="Aptos"/>
              </a:rPr>
              <a:t>Key takeaway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B92333-17C8-BFD0-C52D-56F580B6E642}"/>
              </a:ext>
            </a:extLst>
          </p:cNvPr>
          <p:cNvSpPr txBox="1"/>
          <p:nvPr/>
        </p:nvSpPr>
        <p:spPr>
          <a:xfrm>
            <a:off x="996950" y="5102225"/>
            <a:ext cx="10213975" cy="384175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>
                <a:solidFill>
                  <a:srgbClr val="1F2937"/>
                </a:solidFill>
                <a:latin typeface="Aptos"/>
              </a:rPr>
              <a:t>The owner’s first-line result did not remain the final answer. Independent second-line review raised the model to Tier 1, and the third-line audit confirmed that higher-governance treatment was appropriate.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7C39464-A046-DA72-75C0-09114E7F17EC}"/>
              </a:ext>
            </a:extLst>
          </p:cNvPr>
          <p:cNvSpPr/>
          <p:nvPr/>
        </p:nvSpPr>
        <p:spPr>
          <a:xfrm>
            <a:off x="347663" y="6446838"/>
            <a:ext cx="11493500" cy="17462"/>
          </a:xfrm>
          <a:prstGeom prst="rect">
            <a:avLst/>
          </a:prstGeom>
          <a:solidFill>
            <a:srgbClr val="D2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C85BE5-AD59-0474-3929-24A32E6BE3D4}"/>
              </a:ext>
            </a:extLst>
          </p:cNvPr>
          <p:cNvSpPr txBox="1"/>
          <p:nvPr/>
        </p:nvSpPr>
        <p:spPr>
          <a:xfrm>
            <a:off x="411163" y="6473825"/>
            <a:ext cx="9144000" cy="1095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850">
                <a:solidFill>
                  <a:srgbClr val="6B7280"/>
                </a:solidFill>
                <a:latin typeface="Aptos"/>
              </a:rPr>
              <a:t>NovaVest Research Summary Assistant v1 · ME575 Final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599196-1022-488E-759D-1AF4C57666AE}"/>
              </a:ext>
            </a:extLst>
          </p:cNvPr>
          <p:cNvSpPr/>
          <p:nvPr/>
        </p:nvSpPr>
        <p:spPr>
          <a:xfrm>
            <a:off x="0" y="0"/>
            <a:ext cx="12192000" cy="658813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0243" name="TextBox 2">
            <a:extLst>
              <a:ext uri="{FF2B5EF4-FFF2-40B4-BE49-F238E27FC236}">
                <a16:creationId xmlns:a16="http://schemas.microsoft.com/office/drawing/2014/main" id="{5CBD9E55-9C99-3432-D787-508C08B11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163" y="109538"/>
            <a:ext cx="106076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400" b="1">
                <a:solidFill>
                  <a:srgbClr val="FFFFFF"/>
                </a:solidFill>
                <a:latin typeface="Aptos Display" panose="020B0004020202020204" pitchFamily="34" charset="0"/>
              </a:rPr>
              <a:t>4. Implemented workflow diagram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A6E934-01FF-16FE-DD53-E27B75118CD3}"/>
              </a:ext>
            </a:extLst>
          </p:cNvPr>
          <p:cNvSpPr txBox="1"/>
          <p:nvPr/>
        </p:nvSpPr>
        <p:spPr>
          <a:xfrm>
            <a:off x="430213" y="411163"/>
            <a:ext cx="9875837" cy="165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950">
                <a:solidFill>
                  <a:srgbClr val="D6E1F0"/>
                </a:solidFill>
                <a:latin typeface="Aptos"/>
              </a:rPr>
              <a:t>Rendered from the original README workflow logic in the repository</a:t>
            </a:r>
          </a:p>
        </p:txBody>
      </p:sp>
      <p:sp>
        <p:nvSpPr>
          <p:cNvPr id="10245" name="TextBox 4">
            <a:extLst>
              <a:ext uri="{FF2B5EF4-FFF2-40B4-BE49-F238E27FC236}">
                <a16:creationId xmlns:a16="http://schemas.microsoft.com/office/drawing/2014/main" id="{207C120A-1873-6FDD-0D36-EAE4C525A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76038" y="146050"/>
            <a:ext cx="319087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zh-CN" altLang="zh-CN" sz="1300" b="1">
                <a:solidFill>
                  <a:srgbClr val="D6E1F0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ED7DFA5-5ACA-FEE2-2385-EDB1C6B75D4C}"/>
              </a:ext>
            </a:extLst>
          </p:cNvPr>
          <p:cNvSpPr/>
          <p:nvPr/>
        </p:nvSpPr>
        <p:spPr>
          <a:xfrm>
            <a:off x="438150" y="868363"/>
            <a:ext cx="11356975" cy="5395912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873DCA-26CF-1196-C9DD-F24164D5601B}"/>
              </a:ext>
            </a:extLst>
          </p:cNvPr>
          <p:cNvSpPr/>
          <p:nvPr/>
        </p:nvSpPr>
        <p:spPr>
          <a:xfrm>
            <a:off x="347663" y="6446838"/>
            <a:ext cx="11493500" cy="17462"/>
          </a:xfrm>
          <a:prstGeom prst="rect">
            <a:avLst/>
          </a:prstGeom>
          <a:solidFill>
            <a:srgbClr val="D2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23EEB0-F785-87E4-3640-CFBC5A0F67D6}"/>
              </a:ext>
            </a:extLst>
          </p:cNvPr>
          <p:cNvSpPr txBox="1"/>
          <p:nvPr/>
        </p:nvSpPr>
        <p:spPr>
          <a:xfrm>
            <a:off x="411163" y="6473825"/>
            <a:ext cx="9144000" cy="1095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850">
                <a:solidFill>
                  <a:srgbClr val="6B7280"/>
                </a:solidFill>
                <a:latin typeface="Aptos"/>
              </a:rPr>
              <a:t>Workflow diagram rendered from repository README mermaid flow</a:t>
            </a:r>
          </a:p>
        </p:txBody>
      </p:sp>
      <p:pic>
        <p:nvPicPr>
          <p:cNvPr id="10249" name="图片 10">
            <a:extLst>
              <a:ext uri="{FF2B5EF4-FFF2-40B4-BE49-F238E27FC236}">
                <a16:creationId xmlns:a16="http://schemas.microsoft.com/office/drawing/2014/main" id="{FF2A5E1A-2529-E2AC-DEF6-B5DC8DE85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" y="2468563"/>
            <a:ext cx="11052175" cy="2312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B23FA3-BFF0-6D59-9CA7-3D69F57A0CC2}"/>
              </a:ext>
            </a:extLst>
          </p:cNvPr>
          <p:cNvSpPr/>
          <p:nvPr/>
        </p:nvSpPr>
        <p:spPr>
          <a:xfrm>
            <a:off x="0" y="0"/>
            <a:ext cx="12192000" cy="658813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2291" name="TextBox 2">
            <a:extLst>
              <a:ext uri="{FF2B5EF4-FFF2-40B4-BE49-F238E27FC236}">
                <a16:creationId xmlns:a16="http://schemas.microsoft.com/office/drawing/2014/main" id="{A58F6D6A-FB57-2127-FC15-39D13022CD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163" y="109538"/>
            <a:ext cx="106076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400" b="1">
                <a:solidFill>
                  <a:srgbClr val="FFFFFF"/>
                </a:solidFill>
                <a:latin typeface="Aptos Display" panose="020B0004020202020204" pitchFamily="34" charset="0"/>
              </a:rPr>
              <a:t>5. Frozen sample cases and release logic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DD7D32-F2FA-8ACE-2A06-E7BF913AF467}"/>
              </a:ext>
            </a:extLst>
          </p:cNvPr>
          <p:cNvSpPr txBox="1"/>
          <p:nvPr/>
        </p:nvSpPr>
        <p:spPr>
          <a:xfrm>
            <a:off x="430213" y="411163"/>
            <a:ext cx="9875837" cy="165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950">
                <a:solidFill>
                  <a:srgbClr val="D6E1F0"/>
                </a:solidFill>
                <a:latin typeface="Aptos"/>
              </a:rPr>
              <a:t>Three controlled examples keep the project focused and reproducible</a:t>
            </a:r>
          </a:p>
        </p:txBody>
      </p:sp>
      <p:sp>
        <p:nvSpPr>
          <p:cNvPr id="12293" name="TextBox 4">
            <a:extLst>
              <a:ext uri="{FF2B5EF4-FFF2-40B4-BE49-F238E27FC236}">
                <a16:creationId xmlns:a16="http://schemas.microsoft.com/office/drawing/2014/main" id="{A1873F21-7FD0-A8F0-3643-01FFD3080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76038" y="146050"/>
            <a:ext cx="319087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zh-CN" altLang="zh-CN" sz="1300" b="1">
                <a:solidFill>
                  <a:srgbClr val="D6E1F0"/>
                </a:solidFill>
                <a:latin typeface="Aptos" panose="020B0004020202020204" pitchFamily="34" charset="0"/>
              </a:rPr>
              <a:t>6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7D52158-748A-E5A9-FC6A-2E4BCAF4C687}"/>
              </a:ext>
            </a:extLst>
          </p:cNvPr>
          <p:cNvGraphicFramePr>
            <a:graphicFrameLocks noGrp="1"/>
          </p:cNvGraphicFramePr>
          <p:nvPr/>
        </p:nvGraphicFramePr>
        <p:xfrm>
          <a:off x="549275" y="1169988"/>
          <a:ext cx="6537325" cy="2925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5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441"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100"/>
                        <a:t>Case</a:t>
                      </a:r>
                    </a:p>
                  </a:txBody>
                  <a:tcPr marL="45716" marR="45716" marT="27429" marB="27429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100"/>
                        <a:t>Expected outcome</a:t>
                      </a:r>
                    </a:p>
                  </a:txBody>
                  <a:tcPr marL="45716" marR="45716" marT="27429" marB="27429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100"/>
                        <a:t>Why</a:t>
                      </a:r>
                    </a:p>
                  </a:txBody>
                  <a:tcPr marL="45716" marR="45716" marT="27429" marB="27429">
                    <a:solidFill>
                      <a:srgbClr val="182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441"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rPr sz="1100" dirty="0"/>
                        <a:t>Microsoft</a:t>
                      </a:r>
                    </a:p>
                  </a:txBody>
                  <a:tcPr marL="45716" marR="45716" marT="27429" marB="2742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rPr sz="1100"/>
                        <a:t>APPROVED</a:t>
                      </a:r>
                    </a:p>
                  </a:txBody>
                  <a:tcPr marL="45716" marR="45716" marT="27429" marB="2742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rPr sz="1100"/>
                        <a:t>Fresh source, grounded draft, all required categories covered, and both sign-offs completed.</a:t>
                      </a:r>
                    </a:p>
                  </a:txBody>
                  <a:tcPr marL="45716" marR="45716" marT="27429" marB="27429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441"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rPr sz="1100"/>
                        <a:t>Apple</a:t>
                      </a:r>
                    </a:p>
                  </a:txBody>
                  <a:tcPr marL="45716" marR="45716" marT="27429" marB="27429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rPr sz="1100"/>
                        <a:t>REVISE</a:t>
                      </a:r>
                    </a:p>
                  </a:txBody>
                  <a:tcPr marL="45716" marR="45716" marT="27429" marB="27429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rPr sz="1100"/>
                        <a:t>The draft is mostly usable, but exactly one important risk category is missing.</a:t>
                      </a:r>
                    </a:p>
                  </a:txBody>
                  <a:tcPr marL="45716" marR="45716" marT="27429" marB="27429"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441"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rPr sz="1100"/>
                        <a:t>Nvidia</a:t>
                      </a:r>
                    </a:p>
                  </a:txBody>
                  <a:tcPr marL="45716" marR="45716" marT="27429" marB="2742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rPr sz="1100"/>
                        <a:t>ESCALATED</a:t>
                      </a:r>
                    </a:p>
                  </a:txBody>
                  <a:tcPr marL="45716" marR="45716" marT="27429" marB="2742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rPr sz="1100" dirty="0"/>
                        <a:t>Multiple material categories are missing, so the case is too serious for normal revision.</a:t>
                      </a:r>
                    </a:p>
                  </a:txBody>
                  <a:tcPr marL="45716" marR="45716" marT="27429" marB="27429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B0B4B2E-E34C-2888-671B-90AF0A4531F9}"/>
              </a:ext>
            </a:extLst>
          </p:cNvPr>
          <p:cNvSpPr/>
          <p:nvPr/>
        </p:nvSpPr>
        <p:spPr>
          <a:xfrm>
            <a:off x="7315200" y="1143000"/>
            <a:ext cx="4297363" cy="3794125"/>
          </a:xfrm>
          <a:prstGeom prst="roundRect">
            <a:avLst/>
          </a:prstGeom>
          <a:solidFill>
            <a:srgbClr val="F8F9FB"/>
          </a:solidFill>
          <a:ln w="17780">
            <a:solidFill>
              <a:srgbClr val="DC8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C8122CE-C870-9ED9-2D7B-7D17A3014148}"/>
              </a:ext>
            </a:extLst>
          </p:cNvPr>
          <p:cNvSpPr/>
          <p:nvPr/>
        </p:nvSpPr>
        <p:spPr>
          <a:xfrm>
            <a:off x="7424738" y="1235075"/>
            <a:ext cx="1325562" cy="255588"/>
          </a:xfrm>
          <a:prstGeom prst="roundRect">
            <a:avLst/>
          </a:prstGeom>
          <a:solidFill>
            <a:srgbClr val="F9F0E4"/>
          </a:solidFill>
          <a:ln w="12700">
            <a:solidFill>
              <a:srgbClr val="DC8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4DAD6B-4B9D-7B69-2888-8C8D487E6276}"/>
              </a:ext>
            </a:extLst>
          </p:cNvPr>
          <p:cNvSpPr txBox="1"/>
          <p:nvPr/>
        </p:nvSpPr>
        <p:spPr>
          <a:xfrm>
            <a:off x="7480300" y="1257300"/>
            <a:ext cx="1169988" cy="146050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 b="1">
                <a:solidFill>
                  <a:srgbClr val="DC862D"/>
                </a:solidFill>
                <a:latin typeface="Aptos"/>
              </a:rPr>
              <a:t>Decision rules</a:t>
            </a:r>
          </a:p>
        </p:txBody>
      </p:sp>
      <p:sp>
        <p:nvSpPr>
          <p:cNvPr id="12319" name="TextBox 9">
            <a:extLst>
              <a:ext uri="{FF2B5EF4-FFF2-40B4-BE49-F238E27FC236}">
                <a16:creationId xmlns:a16="http://schemas.microsoft.com/office/drawing/2014/main" id="{8B403331-E0F4-BC8B-35BA-971465BE8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6813" y="1627188"/>
            <a:ext cx="3840162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700"/>
              </a:spcAft>
              <a:buFontTx/>
              <a:buNone/>
            </a:pPr>
            <a:r>
              <a:rPr lang="zh-CN" altLang="zh-CN" sz="1200">
                <a:solidFill>
                  <a:srgbClr val="1F2937"/>
                </a:solidFill>
                <a:latin typeface="Aptos" panose="020B0004020202020204" pitchFamily="34" charset="0"/>
              </a:rPr>
              <a:t>APPROVED: no hard fails, no missing categories, and both sign-offs complete.</a:t>
            </a:r>
          </a:p>
          <a:p>
            <a:pPr eaLnBrk="1" hangingPunct="1">
              <a:spcBef>
                <a:spcPct val="0"/>
              </a:spcBef>
              <a:spcAft>
                <a:spcPts val="700"/>
              </a:spcAft>
              <a:buFontTx/>
              <a:buNone/>
            </a:pPr>
            <a:r>
              <a:rPr lang="zh-CN" altLang="zh-CN" sz="1200">
                <a:solidFill>
                  <a:srgbClr val="1F2937"/>
                </a:solidFill>
                <a:latin typeface="Aptos" panose="020B0004020202020204" pitchFamily="34" charset="0"/>
              </a:rPr>
              <a:t>REVISE: exactly one important required category is missing.</a:t>
            </a:r>
          </a:p>
          <a:p>
            <a:pPr eaLnBrk="1" hangingPunct="1">
              <a:spcBef>
                <a:spcPct val="0"/>
              </a:spcBef>
              <a:spcAft>
                <a:spcPts val="700"/>
              </a:spcAft>
              <a:buFontTx/>
              <a:buNone/>
            </a:pPr>
            <a:r>
              <a:rPr lang="zh-CN" altLang="zh-CN" sz="1200">
                <a:solidFill>
                  <a:srgbClr val="1F2937"/>
                </a:solidFill>
                <a:latin typeface="Aptos" panose="020B0004020202020204" pitchFamily="34" charset="0"/>
              </a:rPr>
              <a:t>ESCALATED: multiple material categories are missing, or another serious issue is unresolved.</a:t>
            </a:r>
          </a:p>
          <a:p>
            <a:pPr eaLnBrk="1" hangingPunct="1">
              <a:spcBef>
                <a:spcPct val="0"/>
              </a:spcBef>
              <a:spcAft>
                <a:spcPts val="700"/>
              </a:spcAft>
              <a:buFontTx/>
              <a:buNone/>
            </a:pPr>
            <a:r>
              <a:rPr lang="zh-CN" altLang="zh-CN" sz="1200">
                <a:solidFill>
                  <a:srgbClr val="1F2937"/>
                </a:solidFill>
                <a:latin typeface="Aptos" panose="020B0004020202020204" pitchFamily="34" charset="0"/>
              </a:rPr>
              <a:t>REJECTED: a hard gate fails, such as stale source input or major grounding failure.</a:t>
            </a:r>
          </a:p>
          <a:p>
            <a:pPr eaLnBrk="1" hangingPunct="1">
              <a:spcBef>
                <a:spcPct val="0"/>
              </a:spcBef>
              <a:spcAft>
                <a:spcPts val="700"/>
              </a:spcAft>
              <a:buFontTx/>
              <a:buNone/>
            </a:pPr>
            <a:r>
              <a:rPr lang="zh-CN" altLang="zh-CN" sz="1200">
                <a:solidFill>
                  <a:srgbClr val="1F2937"/>
                </a:solidFill>
                <a:latin typeface="Aptos" panose="020B0004020202020204" pitchFamily="34" charset="0"/>
              </a:rPr>
              <a:t>PENDING_HUMAN_REVIEW: automated checks pass but sign-offs are not complete yet.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5F8809D-48F1-45F7-2DF9-39F9B83B9F63}"/>
              </a:ext>
            </a:extLst>
          </p:cNvPr>
          <p:cNvSpPr/>
          <p:nvPr/>
        </p:nvSpPr>
        <p:spPr>
          <a:xfrm>
            <a:off x="712788" y="4664075"/>
            <a:ext cx="10836275" cy="749300"/>
          </a:xfrm>
          <a:prstGeom prst="roundRect">
            <a:avLst/>
          </a:prstGeom>
          <a:solidFill>
            <a:srgbClr val="F8F9FB"/>
          </a:solidFill>
          <a:ln w="17780">
            <a:solidFill>
              <a:srgbClr val="248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BA314D3-E9F5-8D49-1629-AFFACC4A53BC}"/>
              </a:ext>
            </a:extLst>
          </p:cNvPr>
          <p:cNvSpPr/>
          <p:nvPr/>
        </p:nvSpPr>
        <p:spPr>
          <a:xfrm>
            <a:off x="822325" y="4754563"/>
            <a:ext cx="2308225" cy="255587"/>
          </a:xfrm>
          <a:prstGeom prst="roundRect">
            <a:avLst/>
          </a:prstGeom>
          <a:solidFill>
            <a:srgbClr val="EDF3F8"/>
          </a:solidFill>
          <a:ln w="12700">
            <a:solidFill>
              <a:srgbClr val="248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03DB8B-6D88-03BB-9DAC-8618B9578AAE}"/>
              </a:ext>
            </a:extLst>
          </p:cNvPr>
          <p:cNvSpPr txBox="1"/>
          <p:nvPr/>
        </p:nvSpPr>
        <p:spPr>
          <a:xfrm>
            <a:off x="877888" y="4778375"/>
            <a:ext cx="1876425" cy="231775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 b="1" dirty="0">
                <a:solidFill>
                  <a:srgbClr val="248C7D"/>
                </a:solidFill>
                <a:latin typeface="Aptos"/>
              </a:rPr>
              <a:t>Why we froze the cases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03EDB0-4844-1A11-E816-E35FBB4A48A1}"/>
              </a:ext>
            </a:extLst>
          </p:cNvPr>
          <p:cNvSpPr txBox="1"/>
          <p:nvPr/>
        </p:nvSpPr>
        <p:spPr>
          <a:xfrm>
            <a:off x="841375" y="5102225"/>
            <a:ext cx="10579100" cy="219075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>
                <a:solidFill>
                  <a:srgbClr val="1F2937"/>
                </a:solidFill>
                <a:latin typeface="Aptos"/>
              </a:rPr>
              <a:t>They help us demonstrate governance behavior clearly without making the project too broad for the course timeline.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05938E-F9D4-541D-A7F8-B11739D74525}"/>
              </a:ext>
            </a:extLst>
          </p:cNvPr>
          <p:cNvSpPr/>
          <p:nvPr/>
        </p:nvSpPr>
        <p:spPr>
          <a:xfrm>
            <a:off x="347663" y="6446838"/>
            <a:ext cx="11493500" cy="17462"/>
          </a:xfrm>
          <a:prstGeom prst="rect">
            <a:avLst/>
          </a:prstGeom>
          <a:solidFill>
            <a:srgbClr val="D2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9B07F6-5C61-4DD2-5C7C-BABAE01B1B80}"/>
              </a:ext>
            </a:extLst>
          </p:cNvPr>
          <p:cNvSpPr txBox="1"/>
          <p:nvPr/>
        </p:nvSpPr>
        <p:spPr>
          <a:xfrm>
            <a:off x="411163" y="6473825"/>
            <a:ext cx="9144000" cy="1095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850">
                <a:solidFill>
                  <a:srgbClr val="6B7280"/>
                </a:solidFill>
                <a:latin typeface="Aptos"/>
              </a:rPr>
              <a:t>NovaVest Research Summary Assistant v1 · ME575 Final Project</a:t>
            </a:r>
          </a:p>
        </p:txBody>
      </p:sp>
      <p:sp>
        <p:nvSpPr>
          <p:cNvPr id="18" name="Rounded Rectangle 10">
            <a:extLst>
              <a:ext uri="{FF2B5EF4-FFF2-40B4-BE49-F238E27FC236}">
                <a16:creationId xmlns:a16="http://schemas.microsoft.com/office/drawing/2014/main" id="{F0A3AFC0-F903-02FA-D641-C19DEF27C3E0}"/>
              </a:ext>
            </a:extLst>
          </p:cNvPr>
          <p:cNvSpPr/>
          <p:nvPr/>
        </p:nvSpPr>
        <p:spPr>
          <a:xfrm>
            <a:off x="712788" y="5564188"/>
            <a:ext cx="10836275" cy="749300"/>
          </a:xfrm>
          <a:prstGeom prst="roundRect">
            <a:avLst/>
          </a:prstGeom>
          <a:solidFill>
            <a:srgbClr val="F8F9FB"/>
          </a:solidFill>
          <a:ln w="17780">
            <a:solidFill>
              <a:srgbClr val="248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9" name="Rounded Rectangle 11">
            <a:extLst>
              <a:ext uri="{FF2B5EF4-FFF2-40B4-BE49-F238E27FC236}">
                <a16:creationId xmlns:a16="http://schemas.microsoft.com/office/drawing/2014/main" id="{8044564A-16EE-3AE0-E02A-5854D9BF6A66}"/>
              </a:ext>
            </a:extLst>
          </p:cNvPr>
          <p:cNvSpPr/>
          <p:nvPr/>
        </p:nvSpPr>
        <p:spPr>
          <a:xfrm>
            <a:off x="822325" y="5654675"/>
            <a:ext cx="974725" cy="255588"/>
          </a:xfrm>
          <a:prstGeom prst="roundRect">
            <a:avLst/>
          </a:prstGeom>
          <a:solidFill>
            <a:srgbClr val="EDF3F8"/>
          </a:solidFill>
          <a:ln w="12700">
            <a:solidFill>
              <a:srgbClr val="248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6139FD55-282C-D7F6-C840-0BD87E271D58}"/>
              </a:ext>
            </a:extLst>
          </p:cNvPr>
          <p:cNvSpPr txBox="1"/>
          <p:nvPr/>
        </p:nvSpPr>
        <p:spPr>
          <a:xfrm>
            <a:off x="877888" y="5678488"/>
            <a:ext cx="1876425" cy="231775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50" b="1" dirty="0">
                <a:solidFill>
                  <a:srgbClr val="248C7D"/>
                </a:solidFill>
                <a:latin typeface="Aptos"/>
              </a:rPr>
              <a:t>Two Modes</a:t>
            </a:r>
            <a:endParaRPr sz="1150" b="1" dirty="0">
              <a:solidFill>
                <a:srgbClr val="248C7D"/>
              </a:solidFill>
              <a:latin typeface="Aptos"/>
            </a:endParaRPr>
          </a:p>
        </p:txBody>
      </p:sp>
      <p:sp>
        <p:nvSpPr>
          <p:cNvPr id="21" name="TextBox 13">
            <a:extLst>
              <a:ext uri="{FF2B5EF4-FFF2-40B4-BE49-F238E27FC236}">
                <a16:creationId xmlns:a16="http://schemas.microsoft.com/office/drawing/2014/main" id="{AE2F47F8-E17F-9A03-B420-2634E57DD4C9}"/>
              </a:ext>
            </a:extLst>
          </p:cNvPr>
          <p:cNvSpPr txBox="1"/>
          <p:nvPr/>
        </p:nvSpPr>
        <p:spPr>
          <a:xfrm>
            <a:off x="841375" y="6002338"/>
            <a:ext cx="10579100" cy="233362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hr-HR" sz="1150" dirty="0">
                <a:solidFill>
                  <a:srgbClr val="1F2937"/>
                </a:solidFill>
                <a:latin typeface="Aptos"/>
              </a:rPr>
              <a:t>stub (deterministic, no API key, guaranteed frozen outcomes) and openrouter (MiniMax M2.5 via OpenRouter, with an LLM semantic judge to handle paraphrases)</a:t>
            </a:r>
            <a:r>
              <a:rPr sz="1150" dirty="0">
                <a:solidFill>
                  <a:srgbClr val="1F2937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FF154D-1426-E8F1-FACB-674D2F438BA7}"/>
              </a:ext>
            </a:extLst>
          </p:cNvPr>
          <p:cNvSpPr/>
          <p:nvPr/>
        </p:nvSpPr>
        <p:spPr>
          <a:xfrm>
            <a:off x="0" y="0"/>
            <a:ext cx="12192000" cy="658813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4339" name="TextBox 2">
            <a:extLst>
              <a:ext uri="{FF2B5EF4-FFF2-40B4-BE49-F238E27FC236}">
                <a16:creationId xmlns:a16="http://schemas.microsoft.com/office/drawing/2014/main" id="{0CD117BC-98F4-99D5-1A78-7392E2DAB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163" y="109538"/>
            <a:ext cx="106076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400" b="1">
                <a:solidFill>
                  <a:srgbClr val="FFFFFF"/>
                </a:solidFill>
                <a:latin typeface="Aptos Display" panose="020B0004020202020204" pitchFamily="34" charset="0"/>
              </a:rPr>
              <a:t>6. Repository structure and evidence package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4E0FFD-3423-0514-2FAD-20AD6ECC2463}"/>
              </a:ext>
            </a:extLst>
          </p:cNvPr>
          <p:cNvSpPr txBox="1"/>
          <p:nvPr/>
        </p:nvSpPr>
        <p:spPr>
          <a:xfrm>
            <a:off x="430213" y="411163"/>
            <a:ext cx="9875837" cy="165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950">
                <a:solidFill>
                  <a:srgbClr val="D6E1F0"/>
                </a:solidFill>
                <a:latin typeface="Aptos"/>
              </a:rPr>
              <a:t>How the implementation is organized and what artifacts it produces</a:t>
            </a:r>
          </a:p>
        </p:txBody>
      </p:sp>
      <p:sp>
        <p:nvSpPr>
          <p:cNvPr id="14341" name="TextBox 4">
            <a:extLst>
              <a:ext uri="{FF2B5EF4-FFF2-40B4-BE49-F238E27FC236}">
                <a16:creationId xmlns:a16="http://schemas.microsoft.com/office/drawing/2014/main" id="{FCC7830C-146A-F34F-55F9-FE0ACC6C86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76038" y="146050"/>
            <a:ext cx="319087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zh-CN" altLang="zh-CN" sz="1300" b="1">
                <a:solidFill>
                  <a:srgbClr val="D6E1F0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9E3A0FA-046D-B4A1-F157-7A954E9D1460}"/>
              </a:ext>
            </a:extLst>
          </p:cNvPr>
          <p:cNvSpPr/>
          <p:nvPr/>
        </p:nvSpPr>
        <p:spPr>
          <a:xfrm>
            <a:off x="566738" y="1050925"/>
            <a:ext cx="5440362" cy="4527550"/>
          </a:xfrm>
          <a:prstGeom prst="roundRect">
            <a:avLst/>
          </a:prstGeom>
          <a:solidFill>
            <a:srgbClr val="F8F9FB"/>
          </a:solidFill>
          <a:ln w="17780">
            <a:solidFill>
              <a:srgbClr val="2F5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6E17042-79F3-CD99-F323-9F6BCE3386A1}"/>
              </a:ext>
            </a:extLst>
          </p:cNvPr>
          <p:cNvSpPr/>
          <p:nvPr/>
        </p:nvSpPr>
        <p:spPr>
          <a:xfrm>
            <a:off x="996950" y="1152525"/>
            <a:ext cx="2508250" cy="292100"/>
          </a:xfrm>
          <a:prstGeom prst="roundRect">
            <a:avLst/>
          </a:prstGeom>
          <a:solidFill>
            <a:srgbClr val="EDF3F8"/>
          </a:solidFill>
          <a:ln w="12700">
            <a:solidFill>
              <a:srgbClr val="2F5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BE80BF-07BB-2759-AEA3-476103EC8E6C}"/>
              </a:ext>
            </a:extLst>
          </p:cNvPr>
          <p:cNvSpPr txBox="1"/>
          <p:nvPr/>
        </p:nvSpPr>
        <p:spPr>
          <a:xfrm>
            <a:off x="1081088" y="1165225"/>
            <a:ext cx="2025650" cy="233363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 b="1" dirty="0">
                <a:solidFill>
                  <a:srgbClr val="2F5EAB"/>
                </a:solidFill>
                <a:latin typeface="Aptos"/>
              </a:rPr>
              <a:t>Main repo pieces</a:t>
            </a:r>
          </a:p>
        </p:txBody>
      </p:sp>
      <p:sp>
        <p:nvSpPr>
          <p:cNvPr id="14345" name="TextBox 8">
            <a:extLst>
              <a:ext uri="{FF2B5EF4-FFF2-40B4-BE49-F238E27FC236}">
                <a16:creationId xmlns:a16="http://schemas.microsoft.com/office/drawing/2014/main" id="{8C309E39-23F8-AE7C-E8B8-83FC8E345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863" y="1508125"/>
            <a:ext cx="4937125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700"/>
              </a:spcAft>
              <a:buFontTx/>
              <a:buNone/>
            </a:pPr>
            <a:r>
              <a:rPr lang="zh-CN" altLang="zh-CN" sz="1300">
                <a:solidFill>
                  <a:srgbClr val="1F2937"/>
                </a:solidFill>
                <a:latin typeface="Aptos" panose="020B0004020202020204" pitchFamily="34" charset="0"/>
              </a:rPr>
              <a:t>data/sources: frozen input files for Microsoft, Apple, and Nvidia.</a:t>
            </a:r>
          </a:p>
          <a:p>
            <a:pPr eaLnBrk="1" hangingPunct="1">
              <a:spcBef>
                <a:spcPct val="0"/>
              </a:spcBef>
              <a:spcAft>
                <a:spcPts val="700"/>
              </a:spcAft>
              <a:buFontTx/>
              <a:buNone/>
            </a:pPr>
            <a:r>
              <a:rPr lang="zh-CN" altLang="zh-CN" sz="1300">
                <a:solidFill>
                  <a:srgbClr val="1F2937"/>
                </a:solidFill>
                <a:latin typeface="Aptos" panose="020B0004020202020204" pitchFamily="34" charset="0"/>
              </a:rPr>
              <a:t>src/workflow.py: end-to-end pipeline orchestration.</a:t>
            </a:r>
          </a:p>
          <a:p>
            <a:pPr eaLnBrk="1" hangingPunct="1">
              <a:spcBef>
                <a:spcPct val="0"/>
              </a:spcBef>
              <a:spcAft>
                <a:spcPts val="700"/>
              </a:spcAft>
              <a:buFontTx/>
              <a:buNone/>
            </a:pPr>
            <a:r>
              <a:rPr lang="zh-CN" altLang="zh-CN" sz="1300">
                <a:solidFill>
                  <a:srgbClr val="1F2937"/>
                </a:solidFill>
                <a:latin typeface="Aptos" panose="020B0004020202020204" pitchFamily="34" charset="0"/>
              </a:rPr>
              <a:t>src/controls: freshness, grounding, and risk-coverage checks.</a:t>
            </a:r>
          </a:p>
          <a:p>
            <a:pPr eaLnBrk="1" hangingPunct="1">
              <a:spcBef>
                <a:spcPct val="0"/>
              </a:spcBef>
              <a:spcAft>
                <a:spcPts val="700"/>
              </a:spcAft>
              <a:buFontTx/>
              <a:buNone/>
            </a:pPr>
            <a:r>
              <a:rPr lang="zh-CN" altLang="zh-CN" sz="1300">
                <a:solidFill>
                  <a:srgbClr val="1F2937"/>
                </a:solidFill>
                <a:latin typeface="Aptos" panose="020B0004020202020204" pitchFamily="34" charset="0"/>
              </a:rPr>
              <a:t>src/review.py: release routing and final decision logic.</a:t>
            </a:r>
          </a:p>
          <a:p>
            <a:pPr eaLnBrk="1" hangingPunct="1">
              <a:spcBef>
                <a:spcPct val="0"/>
              </a:spcBef>
              <a:spcAft>
                <a:spcPts val="700"/>
              </a:spcAft>
              <a:buFontTx/>
              <a:buNone/>
            </a:pPr>
            <a:r>
              <a:rPr lang="zh-CN" altLang="zh-CN" sz="1300">
                <a:solidFill>
                  <a:srgbClr val="1F2937"/>
                </a:solidFill>
                <a:latin typeface="Aptos" panose="020B0004020202020204" pitchFamily="34" charset="0"/>
              </a:rPr>
              <a:t>artifacts/dashboard.html: HTML dashboard output.</a:t>
            </a:r>
          </a:p>
          <a:p>
            <a:pPr eaLnBrk="1" hangingPunct="1">
              <a:spcBef>
                <a:spcPct val="0"/>
              </a:spcBef>
              <a:spcAft>
                <a:spcPts val="700"/>
              </a:spcAft>
              <a:buFontTx/>
              <a:buNone/>
            </a:pPr>
            <a:r>
              <a:rPr lang="zh-CN" altLang="zh-CN" sz="1300">
                <a:solidFill>
                  <a:srgbClr val="1F2937"/>
                </a:solidFill>
                <a:latin typeface="Aptos" panose="020B0004020202020204" pitchFamily="34" charset="0"/>
              </a:rPr>
              <a:t>evidence/run-*.json: one evidence pack per run.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8F55198-8885-6D53-CEE3-DE219CC42756}"/>
              </a:ext>
            </a:extLst>
          </p:cNvPr>
          <p:cNvSpPr/>
          <p:nvPr/>
        </p:nvSpPr>
        <p:spPr>
          <a:xfrm>
            <a:off x="6235700" y="1050925"/>
            <a:ext cx="5349875" cy="4527550"/>
          </a:xfrm>
          <a:prstGeom prst="roundRect">
            <a:avLst/>
          </a:prstGeom>
          <a:solidFill>
            <a:srgbClr val="F8F9FB"/>
          </a:solidFill>
          <a:ln w="17780">
            <a:solidFill>
              <a:srgbClr val="248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AC960B8-A024-BDC6-5585-BA74FC060EA2}"/>
              </a:ext>
            </a:extLst>
          </p:cNvPr>
          <p:cNvSpPr/>
          <p:nvPr/>
        </p:nvSpPr>
        <p:spPr>
          <a:xfrm>
            <a:off x="6688138" y="1165225"/>
            <a:ext cx="2022475" cy="233363"/>
          </a:xfrm>
          <a:prstGeom prst="roundRect">
            <a:avLst/>
          </a:prstGeom>
          <a:solidFill>
            <a:srgbClr val="EDF3F8"/>
          </a:solidFill>
          <a:ln w="12700">
            <a:solidFill>
              <a:srgbClr val="248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448BB7-D1C5-CC7E-0247-C852706D8F9A}"/>
              </a:ext>
            </a:extLst>
          </p:cNvPr>
          <p:cNvSpPr txBox="1"/>
          <p:nvPr/>
        </p:nvSpPr>
        <p:spPr>
          <a:xfrm>
            <a:off x="6688138" y="1174750"/>
            <a:ext cx="2022475" cy="231775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 b="1" dirty="0">
                <a:solidFill>
                  <a:srgbClr val="248C7D"/>
                </a:solidFill>
                <a:latin typeface="Aptos"/>
              </a:rPr>
              <a:t>Evidence pack contents</a:t>
            </a:r>
          </a:p>
        </p:txBody>
      </p:sp>
      <p:sp>
        <p:nvSpPr>
          <p:cNvPr id="14349" name="TextBox 12">
            <a:extLst>
              <a:ext uri="{FF2B5EF4-FFF2-40B4-BE49-F238E27FC236}">
                <a16:creationId xmlns:a16="http://schemas.microsoft.com/office/drawing/2014/main" id="{CABFBEBD-225D-DF61-DE43-6F795094B2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3825" y="1508125"/>
            <a:ext cx="4846638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700"/>
              </a:spcAft>
              <a:buFontTx/>
              <a:buNone/>
            </a:pPr>
            <a:r>
              <a:rPr lang="zh-CN" altLang="zh-CN" sz="1300">
                <a:solidFill>
                  <a:srgbClr val="1F2937"/>
                </a:solidFill>
                <a:latin typeface="Aptos" panose="020B0004020202020204" pitchFamily="34" charset="0"/>
              </a:rPr>
              <a:t>Run ID and timestamp.</a:t>
            </a:r>
          </a:p>
          <a:p>
            <a:pPr eaLnBrk="1" hangingPunct="1">
              <a:spcBef>
                <a:spcPct val="0"/>
              </a:spcBef>
              <a:spcAft>
                <a:spcPts val="700"/>
              </a:spcAft>
              <a:buFontTx/>
              <a:buNone/>
            </a:pPr>
            <a:r>
              <a:rPr lang="zh-CN" altLang="zh-CN" sz="1300">
                <a:solidFill>
                  <a:srgbClr val="1F2937"/>
                </a:solidFill>
                <a:latin typeface="Aptos" panose="020B0004020202020204" pitchFamily="34" charset="0"/>
              </a:rPr>
              <a:t>Source-document metadata.</a:t>
            </a:r>
          </a:p>
          <a:p>
            <a:pPr eaLnBrk="1" hangingPunct="1">
              <a:spcBef>
                <a:spcPct val="0"/>
              </a:spcBef>
              <a:spcAft>
                <a:spcPts val="700"/>
              </a:spcAft>
              <a:buFontTx/>
              <a:buNone/>
            </a:pPr>
            <a:r>
              <a:rPr lang="zh-CN" altLang="zh-CN" sz="1300">
                <a:solidFill>
                  <a:srgbClr val="1F2937"/>
                </a:solidFill>
                <a:latin typeface="Aptos" panose="020B0004020202020204" pitchFamily="34" charset="0"/>
              </a:rPr>
              <a:t>Generated draft output.</a:t>
            </a:r>
          </a:p>
          <a:p>
            <a:pPr eaLnBrk="1" hangingPunct="1">
              <a:spcBef>
                <a:spcPct val="0"/>
              </a:spcBef>
              <a:spcAft>
                <a:spcPts val="700"/>
              </a:spcAft>
              <a:buFontTx/>
              <a:buNone/>
            </a:pPr>
            <a:r>
              <a:rPr lang="zh-CN" altLang="zh-CN" sz="1300">
                <a:solidFill>
                  <a:srgbClr val="1F2937"/>
                </a:solidFill>
                <a:latin typeface="Aptos" panose="020B0004020202020204" pitchFamily="34" charset="0"/>
              </a:rPr>
              <a:t>Control-by-control results.</a:t>
            </a:r>
          </a:p>
          <a:p>
            <a:pPr eaLnBrk="1" hangingPunct="1">
              <a:spcBef>
                <a:spcPct val="0"/>
              </a:spcBef>
              <a:spcAft>
                <a:spcPts val="700"/>
              </a:spcAft>
              <a:buFontTx/>
              <a:buNone/>
            </a:pPr>
            <a:r>
              <a:rPr lang="zh-CN" altLang="zh-CN" sz="1300">
                <a:solidFill>
                  <a:srgbClr val="1F2937"/>
                </a:solidFill>
                <a:latin typeface="Aptos" panose="020B0004020202020204" pitchFamily="34" charset="0"/>
              </a:rPr>
              <a:t>Reviewer and sign-off information.</a:t>
            </a:r>
          </a:p>
          <a:p>
            <a:pPr eaLnBrk="1" hangingPunct="1">
              <a:spcBef>
                <a:spcPct val="0"/>
              </a:spcBef>
              <a:spcAft>
                <a:spcPts val="700"/>
              </a:spcAft>
              <a:buFontTx/>
              <a:buNone/>
            </a:pPr>
            <a:r>
              <a:rPr lang="zh-CN" altLang="zh-CN" sz="1300">
                <a:solidFill>
                  <a:srgbClr val="1F2937"/>
                </a:solidFill>
                <a:latin typeface="Aptos" panose="020B0004020202020204" pitchFamily="34" charset="0"/>
              </a:rPr>
              <a:t>Final release status and escalation details if needed.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7A96FF-D756-81A6-89B5-FA81167DCB49}"/>
              </a:ext>
            </a:extLst>
          </p:cNvPr>
          <p:cNvSpPr/>
          <p:nvPr/>
        </p:nvSpPr>
        <p:spPr>
          <a:xfrm>
            <a:off x="347663" y="6446838"/>
            <a:ext cx="11493500" cy="17462"/>
          </a:xfrm>
          <a:prstGeom prst="rect">
            <a:avLst/>
          </a:prstGeom>
          <a:solidFill>
            <a:srgbClr val="D2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D08FE9-3DA8-5013-40B9-05496DEB9ABE}"/>
              </a:ext>
            </a:extLst>
          </p:cNvPr>
          <p:cNvSpPr txBox="1"/>
          <p:nvPr/>
        </p:nvSpPr>
        <p:spPr>
          <a:xfrm>
            <a:off x="411163" y="6473825"/>
            <a:ext cx="9144000" cy="1095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850">
                <a:solidFill>
                  <a:srgbClr val="6B7280"/>
                </a:solidFill>
                <a:latin typeface="Aptos"/>
              </a:rPr>
              <a:t>NovaVest Research Summary Assistant v1 · ME575 Final Project</a:t>
            </a:r>
          </a:p>
        </p:txBody>
      </p:sp>
      <p:pic>
        <p:nvPicPr>
          <p:cNvPr id="14352" name="图片 4">
            <a:extLst>
              <a:ext uri="{FF2B5EF4-FFF2-40B4-BE49-F238E27FC236}">
                <a16:creationId xmlns:a16="http://schemas.microsoft.com/office/drawing/2014/main" id="{82896921-94BF-8899-A645-BB0CB7993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63" y="3362325"/>
            <a:ext cx="4810125" cy="207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3" name="图片 8">
            <a:extLst>
              <a:ext uri="{FF2B5EF4-FFF2-40B4-BE49-F238E27FC236}">
                <a16:creationId xmlns:a16="http://schemas.microsoft.com/office/drawing/2014/main" id="{EE83D668-CCF8-35DC-0019-E7A8E7195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9975" y="3362325"/>
            <a:ext cx="5435600" cy="157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086009-8972-772F-F914-1B9CE55CC643}"/>
              </a:ext>
            </a:extLst>
          </p:cNvPr>
          <p:cNvSpPr/>
          <p:nvPr/>
        </p:nvSpPr>
        <p:spPr>
          <a:xfrm>
            <a:off x="0" y="0"/>
            <a:ext cx="12192000" cy="658813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6387" name="TextBox 2">
            <a:extLst>
              <a:ext uri="{FF2B5EF4-FFF2-40B4-BE49-F238E27FC236}">
                <a16:creationId xmlns:a16="http://schemas.microsoft.com/office/drawing/2014/main" id="{29DFA05B-67E3-AC56-A14D-2B04C22E1A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163" y="109538"/>
            <a:ext cx="106076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400" b="1">
                <a:solidFill>
                  <a:srgbClr val="FFFFFF"/>
                </a:solidFill>
                <a:latin typeface="Aptos Display" panose="020B0004020202020204" pitchFamily="34" charset="0"/>
              </a:rPr>
              <a:t>7. Dashboard and LoD3 audit interpretation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0D0075-61E3-3F9A-0AE5-EF63E42E5887}"/>
              </a:ext>
            </a:extLst>
          </p:cNvPr>
          <p:cNvSpPr txBox="1"/>
          <p:nvPr/>
        </p:nvSpPr>
        <p:spPr>
          <a:xfrm>
            <a:off x="430213" y="411163"/>
            <a:ext cx="9875837" cy="165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950">
                <a:solidFill>
                  <a:srgbClr val="D6E1F0"/>
                </a:solidFill>
                <a:latin typeface="Aptos"/>
              </a:rPr>
              <a:t>Implementation view plus audit interpretation</a:t>
            </a:r>
          </a:p>
        </p:txBody>
      </p:sp>
      <p:sp>
        <p:nvSpPr>
          <p:cNvPr id="16389" name="TextBox 4">
            <a:extLst>
              <a:ext uri="{FF2B5EF4-FFF2-40B4-BE49-F238E27FC236}">
                <a16:creationId xmlns:a16="http://schemas.microsoft.com/office/drawing/2014/main" id="{A2D967B7-5637-5FB9-FEF7-0554EC05B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76038" y="146050"/>
            <a:ext cx="319087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zh-CN" altLang="zh-CN" sz="1300" b="1">
                <a:solidFill>
                  <a:srgbClr val="D6E1F0"/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16390" name="TextBox 5">
            <a:extLst>
              <a:ext uri="{FF2B5EF4-FFF2-40B4-BE49-F238E27FC236}">
                <a16:creationId xmlns:a16="http://schemas.microsoft.com/office/drawing/2014/main" id="{A2D3CD13-7B6A-E8FE-0854-FAB10DDA6E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738" y="895350"/>
            <a:ext cx="5486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7432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800" b="1">
                <a:solidFill>
                  <a:srgbClr val="1F2937"/>
                </a:solidFill>
                <a:latin typeface="Aptos" panose="020B0004020202020204" pitchFamily="34" charset="0"/>
              </a:rPr>
              <a:t>HTML governance dashboard sample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AA50DD9-21D2-2415-D2D0-CBD3894547C8}"/>
              </a:ext>
            </a:extLst>
          </p:cNvPr>
          <p:cNvSpPr/>
          <p:nvPr/>
        </p:nvSpPr>
        <p:spPr>
          <a:xfrm>
            <a:off x="560388" y="1203325"/>
            <a:ext cx="6480175" cy="503555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6392" name="TextBox 9">
            <a:extLst>
              <a:ext uri="{FF2B5EF4-FFF2-40B4-BE49-F238E27FC236}">
                <a16:creationId xmlns:a16="http://schemas.microsoft.com/office/drawing/2014/main" id="{04C62F9D-54C0-2284-E8FC-E423E25A2D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895350"/>
            <a:ext cx="42068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7432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800" b="1">
                <a:solidFill>
                  <a:srgbClr val="1F2937"/>
                </a:solidFill>
                <a:latin typeface="Aptos" panose="020B0004020202020204" pitchFamily="34" charset="0"/>
              </a:rPr>
              <a:t>LoD3 audit highlights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B0C8345-99D3-4C11-86D1-93B12061CAC2}"/>
              </a:ext>
            </a:extLst>
          </p:cNvPr>
          <p:cNvSpPr/>
          <p:nvPr/>
        </p:nvSpPr>
        <p:spPr>
          <a:xfrm>
            <a:off x="7269163" y="1206500"/>
            <a:ext cx="4160837" cy="804863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F8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4276C29-B4A7-F5F0-8B26-738709A7B173}"/>
              </a:ext>
            </a:extLst>
          </p:cNvPr>
          <p:cNvSpPr/>
          <p:nvPr/>
        </p:nvSpPr>
        <p:spPr>
          <a:xfrm>
            <a:off x="7378700" y="1298575"/>
            <a:ext cx="1327150" cy="255588"/>
          </a:xfrm>
          <a:prstGeom prst="roundRect">
            <a:avLst/>
          </a:prstGeom>
          <a:solidFill>
            <a:srgbClr val="EDF3F8"/>
          </a:solidFill>
          <a:ln w="12700">
            <a:solidFill>
              <a:srgbClr val="2F8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92A6DC-2034-FEAB-9F70-B328F683E22C}"/>
              </a:ext>
            </a:extLst>
          </p:cNvPr>
          <p:cNvSpPr txBox="1"/>
          <p:nvPr/>
        </p:nvSpPr>
        <p:spPr>
          <a:xfrm>
            <a:off x="7434263" y="1320800"/>
            <a:ext cx="1169987" cy="146050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 b="1">
                <a:solidFill>
                  <a:srgbClr val="2F8450"/>
                </a:solidFill>
                <a:latin typeface="Aptos"/>
              </a:rPr>
              <a:t>Documentation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637086-663B-5A2B-EBB8-36DC004D133B}"/>
              </a:ext>
            </a:extLst>
          </p:cNvPr>
          <p:cNvSpPr txBox="1"/>
          <p:nvPr/>
        </p:nvSpPr>
        <p:spPr>
          <a:xfrm>
            <a:off x="7397750" y="1646238"/>
            <a:ext cx="3903663" cy="274637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>
                <a:solidFill>
                  <a:srgbClr val="1F2937"/>
                </a:solidFill>
                <a:latin typeface="Aptos"/>
              </a:rPr>
              <a:t>Complete for the reviewed model.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AA2B57B-2E18-B9A8-7371-AE3375B8B4FC}"/>
              </a:ext>
            </a:extLst>
          </p:cNvPr>
          <p:cNvSpPr/>
          <p:nvPr/>
        </p:nvSpPr>
        <p:spPr>
          <a:xfrm>
            <a:off x="7269163" y="2193925"/>
            <a:ext cx="4206875" cy="89693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F5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9C877E3-0CDF-4F60-4BE2-E52E25B5EE54}"/>
              </a:ext>
            </a:extLst>
          </p:cNvPr>
          <p:cNvSpPr/>
          <p:nvPr/>
        </p:nvSpPr>
        <p:spPr>
          <a:xfrm>
            <a:off x="7378700" y="2286000"/>
            <a:ext cx="2176463" cy="274638"/>
          </a:xfrm>
          <a:prstGeom prst="roundRect">
            <a:avLst/>
          </a:prstGeom>
          <a:solidFill>
            <a:srgbClr val="EDF3F8"/>
          </a:solidFill>
          <a:ln w="12700">
            <a:solidFill>
              <a:srgbClr val="2F5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86C209-D131-30B5-C616-1E2266D3EB8A}"/>
              </a:ext>
            </a:extLst>
          </p:cNvPr>
          <p:cNvSpPr txBox="1"/>
          <p:nvPr/>
        </p:nvSpPr>
        <p:spPr>
          <a:xfrm>
            <a:off x="7434263" y="2308225"/>
            <a:ext cx="1862137" cy="233363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 b="1" dirty="0">
                <a:solidFill>
                  <a:srgbClr val="2F5EAB"/>
                </a:solidFill>
                <a:latin typeface="Aptos"/>
              </a:rPr>
              <a:t>Tiering reproducibility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CD684C-C450-C567-807E-C978F68B8CB2}"/>
              </a:ext>
            </a:extLst>
          </p:cNvPr>
          <p:cNvSpPr txBox="1"/>
          <p:nvPr/>
        </p:nvSpPr>
        <p:spPr>
          <a:xfrm>
            <a:off x="7397750" y="2633663"/>
            <a:ext cx="3903663" cy="274637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>
                <a:solidFill>
                  <a:srgbClr val="1F2937"/>
                </a:solidFill>
                <a:latin typeface="Aptos"/>
              </a:rPr>
              <a:t>Official Tier 1 and audit-recomputed Tier 1 matched, with score 28.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F8146E6-7CA6-9305-BB2E-7F4535A2E4FA}"/>
              </a:ext>
            </a:extLst>
          </p:cNvPr>
          <p:cNvSpPr/>
          <p:nvPr/>
        </p:nvSpPr>
        <p:spPr>
          <a:xfrm>
            <a:off x="7269163" y="3181350"/>
            <a:ext cx="4206875" cy="89693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C8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77F1434-17ED-9989-8BAE-5205CE9717FD}"/>
              </a:ext>
            </a:extLst>
          </p:cNvPr>
          <p:cNvSpPr/>
          <p:nvPr/>
        </p:nvSpPr>
        <p:spPr>
          <a:xfrm>
            <a:off x="7378700" y="3273425"/>
            <a:ext cx="1327150" cy="255588"/>
          </a:xfrm>
          <a:prstGeom prst="roundRect">
            <a:avLst/>
          </a:prstGeom>
          <a:solidFill>
            <a:srgbClr val="F9F0E4"/>
          </a:solidFill>
          <a:ln w="12700">
            <a:solidFill>
              <a:srgbClr val="DC8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BFAF9A-8A39-586D-6BF6-7E2C9AC301D8}"/>
              </a:ext>
            </a:extLst>
          </p:cNvPr>
          <p:cNvSpPr txBox="1"/>
          <p:nvPr/>
        </p:nvSpPr>
        <p:spPr>
          <a:xfrm>
            <a:off x="7434263" y="3295650"/>
            <a:ext cx="1169987" cy="147638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 b="1">
                <a:solidFill>
                  <a:srgbClr val="DC862D"/>
                </a:solidFill>
                <a:latin typeface="Aptos"/>
              </a:rPr>
              <a:t>Control gaps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F7754A-E024-7498-3A0A-00D2B94DCB1C}"/>
              </a:ext>
            </a:extLst>
          </p:cNvPr>
          <p:cNvSpPr txBox="1"/>
          <p:nvPr/>
        </p:nvSpPr>
        <p:spPr>
          <a:xfrm>
            <a:off x="7397750" y="3621088"/>
            <a:ext cx="3903663" cy="274637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>
                <a:solidFill>
                  <a:srgbClr val="1F2937"/>
                </a:solidFill>
                <a:latin typeface="Aptos"/>
              </a:rPr>
              <a:t>Several required controls remained in progress at prototype stage.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CA7D2AF-3793-5B1B-8990-B69ED983FC9C}"/>
              </a:ext>
            </a:extLst>
          </p:cNvPr>
          <p:cNvSpPr/>
          <p:nvPr/>
        </p:nvSpPr>
        <p:spPr>
          <a:xfrm>
            <a:off x="7269163" y="4170363"/>
            <a:ext cx="4160837" cy="904875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8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14EC0ED-3352-62D0-954E-0A4402D74EEE}"/>
              </a:ext>
            </a:extLst>
          </p:cNvPr>
          <p:cNvSpPr/>
          <p:nvPr/>
        </p:nvSpPr>
        <p:spPr>
          <a:xfrm>
            <a:off x="7378700" y="4260850"/>
            <a:ext cx="1327150" cy="255588"/>
          </a:xfrm>
          <a:prstGeom prst="roundRect">
            <a:avLst/>
          </a:prstGeom>
          <a:solidFill>
            <a:srgbClr val="EDF3F8"/>
          </a:solidFill>
          <a:ln w="12700">
            <a:solidFill>
              <a:srgbClr val="B8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22E3A3-F051-044B-C690-2A41584987F9}"/>
              </a:ext>
            </a:extLst>
          </p:cNvPr>
          <p:cNvSpPr txBox="1"/>
          <p:nvPr/>
        </p:nvSpPr>
        <p:spPr>
          <a:xfrm>
            <a:off x="7434263" y="4284663"/>
            <a:ext cx="1169987" cy="146050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 b="1">
                <a:solidFill>
                  <a:srgbClr val="B83E3E"/>
                </a:solidFill>
                <a:latin typeface="Aptos"/>
              </a:rPr>
              <a:t>Overall reading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9A8F2B-B359-3806-C13F-996F2EE5E9B6}"/>
              </a:ext>
            </a:extLst>
          </p:cNvPr>
          <p:cNvSpPr txBox="1"/>
          <p:nvPr/>
        </p:nvSpPr>
        <p:spPr>
          <a:xfrm>
            <a:off x="7397750" y="4608513"/>
            <a:ext cx="3903663" cy="274637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 dirty="0">
                <a:solidFill>
                  <a:srgbClr val="1F2937"/>
                </a:solidFill>
                <a:latin typeface="Aptos"/>
              </a:rPr>
              <a:t>The governance path is sound, but the prototype still needs follow-up work before enterprise use.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038BDEA-E34E-14E3-765D-5566F08BFC34}"/>
              </a:ext>
            </a:extLst>
          </p:cNvPr>
          <p:cNvSpPr/>
          <p:nvPr/>
        </p:nvSpPr>
        <p:spPr>
          <a:xfrm>
            <a:off x="347663" y="6446838"/>
            <a:ext cx="11493500" cy="17462"/>
          </a:xfrm>
          <a:prstGeom prst="rect">
            <a:avLst/>
          </a:prstGeom>
          <a:solidFill>
            <a:srgbClr val="D2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F4AC72-F49F-06A9-1FFC-E1D4F8DB7AB3}"/>
              </a:ext>
            </a:extLst>
          </p:cNvPr>
          <p:cNvSpPr txBox="1"/>
          <p:nvPr/>
        </p:nvSpPr>
        <p:spPr>
          <a:xfrm>
            <a:off x="411163" y="6473825"/>
            <a:ext cx="9144000" cy="1095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850">
                <a:solidFill>
                  <a:srgbClr val="6B7280"/>
                </a:solidFill>
                <a:latin typeface="Aptos"/>
              </a:rPr>
              <a:t>NovaVest Research Summary Assistant v1 · ME575 Final Project</a:t>
            </a:r>
          </a:p>
        </p:txBody>
      </p:sp>
      <p:pic>
        <p:nvPicPr>
          <p:cNvPr id="16411" name="图片 2">
            <a:extLst>
              <a:ext uri="{FF2B5EF4-FFF2-40B4-BE49-F238E27FC236}">
                <a16:creationId xmlns:a16="http://schemas.microsoft.com/office/drawing/2014/main" id="{539583FD-8450-C0C8-38E0-1797E8E64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25" y="1214438"/>
            <a:ext cx="6815138" cy="271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12" name="图片 4">
            <a:extLst>
              <a:ext uri="{FF2B5EF4-FFF2-40B4-BE49-F238E27FC236}">
                <a16:creationId xmlns:a16="http://schemas.microsoft.com/office/drawing/2014/main" id="{FC7BFFCD-394E-C26D-29CF-8FB6C73E7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25" y="3932238"/>
            <a:ext cx="6815138" cy="251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C076BA-547B-E054-E971-F73D565179EB}"/>
              </a:ext>
            </a:extLst>
          </p:cNvPr>
          <p:cNvSpPr/>
          <p:nvPr/>
        </p:nvSpPr>
        <p:spPr>
          <a:xfrm>
            <a:off x="0" y="0"/>
            <a:ext cx="12192000" cy="658813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8435" name="TextBox 2">
            <a:extLst>
              <a:ext uri="{FF2B5EF4-FFF2-40B4-BE49-F238E27FC236}">
                <a16:creationId xmlns:a16="http://schemas.microsoft.com/office/drawing/2014/main" id="{B9485C12-B102-1D28-498B-57085F75E6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163" y="109538"/>
            <a:ext cx="106076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400" b="1">
                <a:solidFill>
                  <a:srgbClr val="FFFFFF"/>
                </a:solidFill>
                <a:latin typeface="Aptos Display" panose="020B0004020202020204" pitchFamily="34" charset="0"/>
              </a:rPr>
              <a:t>8. Contribution split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A5EB08-6F1B-1194-8F59-02C70AEFAD8D}"/>
              </a:ext>
            </a:extLst>
          </p:cNvPr>
          <p:cNvSpPr txBox="1"/>
          <p:nvPr/>
        </p:nvSpPr>
        <p:spPr>
          <a:xfrm>
            <a:off x="430213" y="411163"/>
            <a:ext cx="9875837" cy="165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950">
                <a:solidFill>
                  <a:srgbClr val="D6E1F0"/>
                </a:solidFill>
                <a:latin typeface="Aptos"/>
              </a:rPr>
              <a:t>Included to make individual contributions clear</a:t>
            </a:r>
          </a:p>
        </p:txBody>
      </p:sp>
      <p:sp>
        <p:nvSpPr>
          <p:cNvPr id="18437" name="TextBox 4">
            <a:extLst>
              <a:ext uri="{FF2B5EF4-FFF2-40B4-BE49-F238E27FC236}">
                <a16:creationId xmlns:a16="http://schemas.microsoft.com/office/drawing/2014/main" id="{E1460891-9B22-9EC0-23EA-0EB74087BB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76038" y="146050"/>
            <a:ext cx="319087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zh-CN" altLang="zh-CN" sz="1300" b="1">
                <a:solidFill>
                  <a:srgbClr val="D6E1F0"/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BBA18B3-F56B-9273-4C96-10C74EC96494}"/>
              </a:ext>
            </a:extLst>
          </p:cNvPr>
          <p:cNvSpPr/>
          <p:nvPr/>
        </p:nvSpPr>
        <p:spPr>
          <a:xfrm>
            <a:off x="566738" y="1235075"/>
            <a:ext cx="3475037" cy="4525963"/>
          </a:xfrm>
          <a:prstGeom prst="roundRect">
            <a:avLst/>
          </a:prstGeom>
          <a:solidFill>
            <a:srgbClr val="F8F9FB"/>
          </a:solidFill>
          <a:ln w="17780">
            <a:solidFill>
              <a:srgbClr val="2F5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673DE9A-C73D-DB7C-1668-99A90CB692EA}"/>
              </a:ext>
            </a:extLst>
          </p:cNvPr>
          <p:cNvSpPr/>
          <p:nvPr/>
        </p:nvSpPr>
        <p:spPr>
          <a:xfrm>
            <a:off x="676275" y="1325563"/>
            <a:ext cx="1325563" cy="255587"/>
          </a:xfrm>
          <a:prstGeom prst="roundRect">
            <a:avLst/>
          </a:prstGeom>
          <a:solidFill>
            <a:srgbClr val="EDF3F8"/>
          </a:solidFill>
          <a:ln w="12700">
            <a:solidFill>
              <a:srgbClr val="2F5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B1E61F-B711-362E-A2A1-A01669B3E376}"/>
              </a:ext>
            </a:extLst>
          </p:cNvPr>
          <p:cNvSpPr txBox="1"/>
          <p:nvPr/>
        </p:nvSpPr>
        <p:spPr>
          <a:xfrm>
            <a:off x="731838" y="1349375"/>
            <a:ext cx="1169987" cy="146050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 b="1">
                <a:solidFill>
                  <a:srgbClr val="2F5EAB"/>
                </a:solidFill>
                <a:latin typeface="Aptos"/>
              </a:rPr>
              <a:t>Riza focus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B83086-81D5-2C57-8817-B8439A4469C1}"/>
              </a:ext>
            </a:extLst>
          </p:cNvPr>
          <p:cNvSpPr txBox="1"/>
          <p:nvPr/>
        </p:nvSpPr>
        <p:spPr>
          <a:xfrm>
            <a:off x="804863" y="1692275"/>
            <a:ext cx="2971800" cy="36115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7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rPr sz="1250">
                <a:solidFill>
                  <a:srgbClr val="1F2937"/>
                </a:solidFill>
                <a:latin typeface="Aptos"/>
              </a:rPr>
              <a:t>Governance framing and project scope</a:t>
            </a:r>
          </a:p>
          <a:p>
            <a:pPr eaLnBrk="1" fontAlgn="auto" hangingPunct="1">
              <a:spcBef>
                <a:spcPts val="0"/>
              </a:spcBef>
              <a:spcAft>
                <a:spcPts val="7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rPr sz="1250">
                <a:solidFill>
                  <a:srgbClr val="1F2937"/>
                </a:solidFill>
                <a:latin typeface="Aptos"/>
              </a:rPr>
              <a:t>LoD1, LoD2, and LoD3 interpretation</a:t>
            </a:r>
          </a:p>
          <a:p>
            <a:pPr eaLnBrk="1" fontAlgn="auto" hangingPunct="1">
              <a:spcBef>
                <a:spcPts val="0"/>
              </a:spcBef>
              <a:spcAft>
                <a:spcPts val="7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rPr sz="1250">
                <a:solidFill>
                  <a:srgbClr val="1F2937"/>
                </a:solidFill>
                <a:latin typeface="Aptos"/>
              </a:rPr>
              <a:t>Tiering narrative, controls, and governance report</a:t>
            </a:r>
          </a:p>
          <a:p>
            <a:pPr eaLnBrk="1" fontAlgn="auto" hangingPunct="1">
              <a:spcBef>
                <a:spcPts val="0"/>
              </a:spcBef>
              <a:spcAft>
                <a:spcPts val="7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rPr sz="1250">
                <a:solidFill>
                  <a:srgbClr val="1F2937"/>
                </a:solidFill>
                <a:latin typeface="Aptos"/>
              </a:rPr>
              <a:t>Sample-case governance logic and presentation flow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7E127F1-174A-D85E-406B-E638842CAE6E}"/>
              </a:ext>
            </a:extLst>
          </p:cNvPr>
          <p:cNvSpPr/>
          <p:nvPr/>
        </p:nvSpPr>
        <p:spPr>
          <a:xfrm>
            <a:off x="4362450" y="1235075"/>
            <a:ext cx="3473450" cy="4525963"/>
          </a:xfrm>
          <a:prstGeom prst="roundRect">
            <a:avLst/>
          </a:prstGeom>
          <a:solidFill>
            <a:srgbClr val="F8F9FB"/>
          </a:solidFill>
          <a:ln w="17780">
            <a:solidFill>
              <a:srgbClr val="248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593FB91-FCE7-4B36-D405-0E7E718178C5}"/>
              </a:ext>
            </a:extLst>
          </p:cNvPr>
          <p:cNvSpPr/>
          <p:nvPr/>
        </p:nvSpPr>
        <p:spPr>
          <a:xfrm>
            <a:off x="4471988" y="1325563"/>
            <a:ext cx="1325562" cy="255587"/>
          </a:xfrm>
          <a:prstGeom prst="roundRect">
            <a:avLst/>
          </a:prstGeom>
          <a:solidFill>
            <a:srgbClr val="EDF3F8"/>
          </a:solidFill>
          <a:ln w="12700">
            <a:solidFill>
              <a:srgbClr val="248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44B302-B98D-5D3A-B2B8-C8E55CC6F911}"/>
              </a:ext>
            </a:extLst>
          </p:cNvPr>
          <p:cNvSpPr txBox="1"/>
          <p:nvPr/>
        </p:nvSpPr>
        <p:spPr>
          <a:xfrm>
            <a:off x="4525963" y="1349375"/>
            <a:ext cx="1169987" cy="146050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 b="1">
                <a:solidFill>
                  <a:srgbClr val="248C7D"/>
                </a:solidFill>
                <a:latin typeface="Aptos"/>
              </a:rPr>
              <a:t>Leon focus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B87C42-4619-0D3D-F3AB-F23195D9626B}"/>
              </a:ext>
            </a:extLst>
          </p:cNvPr>
          <p:cNvSpPr txBox="1"/>
          <p:nvPr/>
        </p:nvSpPr>
        <p:spPr>
          <a:xfrm>
            <a:off x="4598988" y="1692275"/>
            <a:ext cx="2971800" cy="36115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7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rPr sz="1250">
                <a:solidFill>
                  <a:srgbClr val="1F2937"/>
                </a:solidFill>
                <a:latin typeface="Aptos"/>
              </a:rPr>
              <a:t>Repository implementation and pipeline coding</a:t>
            </a:r>
          </a:p>
          <a:p>
            <a:pPr eaLnBrk="1" fontAlgn="auto" hangingPunct="1">
              <a:spcBef>
                <a:spcPts val="0"/>
              </a:spcBef>
              <a:spcAft>
                <a:spcPts val="7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rPr sz="1250">
                <a:solidFill>
                  <a:srgbClr val="1F2937"/>
                </a:solidFill>
                <a:latin typeface="Aptos"/>
              </a:rPr>
              <a:t>Workflow logic, control modules, and release routing</a:t>
            </a:r>
          </a:p>
          <a:p>
            <a:pPr eaLnBrk="1" fontAlgn="auto" hangingPunct="1">
              <a:spcBef>
                <a:spcPts val="0"/>
              </a:spcBef>
              <a:spcAft>
                <a:spcPts val="7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rPr sz="1250">
                <a:solidFill>
                  <a:srgbClr val="1F2937"/>
                </a:solidFill>
                <a:latin typeface="Aptos"/>
              </a:rPr>
              <a:t>Evidence-pack generation and dashboard build</a:t>
            </a:r>
          </a:p>
          <a:p>
            <a:pPr eaLnBrk="1" fontAlgn="auto" hangingPunct="1">
              <a:spcBef>
                <a:spcPts val="0"/>
              </a:spcBef>
              <a:spcAft>
                <a:spcPts val="7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rPr sz="1250">
                <a:solidFill>
                  <a:srgbClr val="1F2937"/>
                </a:solidFill>
                <a:latin typeface="Aptos"/>
              </a:rPr>
              <a:t>Repository packaging and workflow visualization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EFE82FD-77F2-CA93-E782-38F07BDC208C}"/>
              </a:ext>
            </a:extLst>
          </p:cNvPr>
          <p:cNvSpPr/>
          <p:nvPr/>
        </p:nvSpPr>
        <p:spPr>
          <a:xfrm>
            <a:off x="8156575" y="1235075"/>
            <a:ext cx="3475038" cy="4525963"/>
          </a:xfrm>
          <a:prstGeom prst="roundRect">
            <a:avLst/>
          </a:prstGeom>
          <a:solidFill>
            <a:srgbClr val="F8F9FB"/>
          </a:solidFill>
          <a:ln w="17780">
            <a:solidFill>
              <a:srgbClr val="DC8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8D7A05F-9769-07DB-1417-92583FBA5FDD}"/>
              </a:ext>
            </a:extLst>
          </p:cNvPr>
          <p:cNvSpPr/>
          <p:nvPr/>
        </p:nvSpPr>
        <p:spPr>
          <a:xfrm>
            <a:off x="8266113" y="1325563"/>
            <a:ext cx="1325562" cy="255587"/>
          </a:xfrm>
          <a:prstGeom prst="roundRect">
            <a:avLst/>
          </a:prstGeom>
          <a:solidFill>
            <a:srgbClr val="F9F0E4"/>
          </a:solidFill>
          <a:ln w="12700">
            <a:solidFill>
              <a:srgbClr val="DC8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7A91D5-869F-0F2D-5E6A-A215A5A6BDE1}"/>
              </a:ext>
            </a:extLst>
          </p:cNvPr>
          <p:cNvSpPr txBox="1"/>
          <p:nvPr/>
        </p:nvSpPr>
        <p:spPr>
          <a:xfrm>
            <a:off x="8321675" y="1349375"/>
            <a:ext cx="1169988" cy="146050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 b="1">
                <a:solidFill>
                  <a:srgbClr val="DC862D"/>
                </a:solidFill>
                <a:latin typeface="Aptos"/>
              </a:rPr>
              <a:t>Joint work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1C946B-55CE-FBFC-49DB-124FAB7EC8CB}"/>
              </a:ext>
            </a:extLst>
          </p:cNvPr>
          <p:cNvSpPr txBox="1"/>
          <p:nvPr/>
        </p:nvSpPr>
        <p:spPr>
          <a:xfrm>
            <a:off x="8394700" y="1692275"/>
            <a:ext cx="2971800" cy="36115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7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rPr sz="1250">
                <a:solidFill>
                  <a:srgbClr val="1F2937"/>
                </a:solidFill>
                <a:latin typeface="Aptos"/>
              </a:rPr>
              <a:t>Final project direction and frozen sample cases</a:t>
            </a:r>
          </a:p>
          <a:p>
            <a:pPr eaLnBrk="1" fontAlgn="auto" hangingPunct="1">
              <a:spcBef>
                <a:spcPts val="0"/>
              </a:spcBef>
              <a:spcAft>
                <a:spcPts val="7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rPr sz="1250">
                <a:solidFill>
                  <a:srgbClr val="1F2937"/>
                </a:solidFill>
                <a:latin typeface="Aptos"/>
              </a:rPr>
              <a:t>Aligned wording and system definition</a:t>
            </a:r>
          </a:p>
          <a:p>
            <a:pPr eaLnBrk="1" fontAlgn="auto" hangingPunct="1">
              <a:spcBef>
                <a:spcPts val="0"/>
              </a:spcBef>
              <a:spcAft>
                <a:spcPts val="7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rPr sz="1250">
                <a:solidFill>
                  <a:srgbClr val="1F2937"/>
                </a:solidFill>
                <a:latin typeface="Aptos"/>
              </a:rPr>
              <a:t>Review of outputs and final presentation</a:t>
            </a:r>
          </a:p>
          <a:p>
            <a:pPr eaLnBrk="1" fontAlgn="auto" hangingPunct="1">
              <a:spcBef>
                <a:spcPts val="0"/>
              </a:spcBef>
              <a:spcAft>
                <a:spcPts val="7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rPr sz="1250">
                <a:solidFill>
                  <a:srgbClr val="1F2937"/>
                </a:solidFill>
                <a:latin typeface="Aptos"/>
              </a:rPr>
              <a:t>Shared explanation of governance + implementation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DCD98D-A2FB-4585-EBA5-D995C4F710F8}"/>
              </a:ext>
            </a:extLst>
          </p:cNvPr>
          <p:cNvSpPr/>
          <p:nvPr/>
        </p:nvSpPr>
        <p:spPr>
          <a:xfrm>
            <a:off x="347663" y="6446838"/>
            <a:ext cx="11493500" cy="17462"/>
          </a:xfrm>
          <a:prstGeom prst="rect">
            <a:avLst/>
          </a:prstGeom>
          <a:solidFill>
            <a:srgbClr val="D2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1DC119-DEC7-AC5F-BD6C-62F6E2C25FF2}"/>
              </a:ext>
            </a:extLst>
          </p:cNvPr>
          <p:cNvSpPr txBox="1"/>
          <p:nvPr/>
        </p:nvSpPr>
        <p:spPr>
          <a:xfrm>
            <a:off x="411163" y="6473825"/>
            <a:ext cx="9144000" cy="1095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850">
                <a:solidFill>
                  <a:srgbClr val="6B7280"/>
                </a:solidFill>
                <a:latin typeface="Aptos"/>
              </a:rPr>
              <a:t>NovaVest Research Summary Assistant v1 · ME575 Final Project</a:t>
            </a:r>
          </a:p>
        </p:txBody>
      </p:sp>
      <p:pic>
        <p:nvPicPr>
          <p:cNvPr id="18452" name="图片 2">
            <a:extLst>
              <a:ext uri="{FF2B5EF4-FFF2-40B4-BE49-F238E27FC236}">
                <a16:creationId xmlns:a16="http://schemas.microsoft.com/office/drawing/2014/main" id="{E2A24296-1205-9560-B161-3BED88083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4725" y="3779838"/>
            <a:ext cx="5400675" cy="220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0A2726-6F4B-2356-EEB9-73D7B6380C1F}"/>
              </a:ext>
            </a:extLst>
          </p:cNvPr>
          <p:cNvSpPr/>
          <p:nvPr/>
        </p:nvSpPr>
        <p:spPr>
          <a:xfrm>
            <a:off x="0" y="0"/>
            <a:ext cx="12192000" cy="658813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20483" name="TextBox 2">
            <a:extLst>
              <a:ext uri="{FF2B5EF4-FFF2-40B4-BE49-F238E27FC236}">
                <a16:creationId xmlns:a16="http://schemas.microsoft.com/office/drawing/2014/main" id="{571E4B75-7CAD-CA52-5A58-8630E8EE7A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163" y="109538"/>
            <a:ext cx="106076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400" b="1">
                <a:solidFill>
                  <a:srgbClr val="FFFFFF"/>
                </a:solidFill>
                <a:latin typeface="Aptos Display" panose="020B0004020202020204" pitchFamily="34" charset="0"/>
              </a:rPr>
              <a:t>9. Final takeaways and next steps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434AF5-F704-86F4-D582-49F71F5980F8}"/>
              </a:ext>
            </a:extLst>
          </p:cNvPr>
          <p:cNvSpPr txBox="1"/>
          <p:nvPr/>
        </p:nvSpPr>
        <p:spPr>
          <a:xfrm>
            <a:off x="430213" y="411163"/>
            <a:ext cx="9875837" cy="165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950">
                <a:solidFill>
                  <a:srgbClr val="D6E1F0"/>
                </a:solidFill>
                <a:latin typeface="Aptos"/>
              </a:rPr>
              <a:t>Project conclusion</a:t>
            </a:r>
          </a:p>
        </p:txBody>
      </p:sp>
      <p:sp>
        <p:nvSpPr>
          <p:cNvPr id="20485" name="TextBox 4">
            <a:extLst>
              <a:ext uri="{FF2B5EF4-FFF2-40B4-BE49-F238E27FC236}">
                <a16:creationId xmlns:a16="http://schemas.microsoft.com/office/drawing/2014/main" id="{18691149-A1BE-B1D8-1C07-0C35325F83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76038" y="146050"/>
            <a:ext cx="319087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zh-CN" altLang="zh-CN" sz="1300" b="1">
                <a:solidFill>
                  <a:srgbClr val="D6E1F0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380C52B-44FB-B879-0ED2-F0A5485024AC}"/>
              </a:ext>
            </a:extLst>
          </p:cNvPr>
          <p:cNvSpPr/>
          <p:nvPr/>
        </p:nvSpPr>
        <p:spPr>
          <a:xfrm>
            <a:off x="639763" y="1079500"/>
            <a:ext cx="5486400" cy="4525963"/>
          </a:xfrm>
          <a:prstGeom prst="roundRect">
            <a:avLst/>
          </a:prstGeom>
          <a:solidFill>
            <a:srgbClr val="F8F9FB"/>
          </a:solidFill>
          <a:ln w="17780">
            <a:solidFill>
              <a:srgbClr val="2F5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3D30E5B-A170-4D62-427C-24ABD70C14DB}"/>
              </a:ext>
            </a:extLst>
          </p:cNvPr>
          <p:cNvSpPr/>
          <p:nvPr/>
        </p:nvSpPr>
        <p:spPr>
          <a:xfrm>
            <a:off x="749300" y="1169988"/>
            <a:ext cx="1327150" cy="257175"/>
          </a:xfrm>
          <a:prstGeom prst="roundRect">
            <a:avLst/>
          </a:prstGeom>
          <a:solidFill>
            <a:srgbClr val="EDF3F8"/>
          </a:solidFill>
          <a:ln w="12700">
            <a:solidFill>
              <a:srgbClr val="2F5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7DF051-452C-C23D-F2F3-0EB1AC62856B}"/>
              </a:ext>
            </a:extLst>
          </p:cNvPr>
          <p:cNvSpPr txBox="1"/>
          <p:nvPr/>
        </p:nvSpPr>
        <p:spPr>
          <a:xfrm>
            <a:off x="804863" y="1193800"/>
            <a:ext cx="1169987" cy="146050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 b="1">
                <a:solidFill>
                  <a:srgbClr val="2F5EAB"/>
                </a:solidFill>
                <a:latin typeface="Aptos"/>
              </a:rPr>
              <a:t>Main takeaways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A8A643-4112-042E-5334-764FA3EDD37E}"/>
              </a:ext>
            </a:extLst>
          </p:cNvPr>
          <p:cNvSpPr txBox="1"/>
          <p:nvPr/>
        </p:nvSpPr>
        <p:spPr>
          <a:xfrm>
            <a:off x="887413" y="1536700"/>
            <a:ext cx="4983162" cy="36115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700"/>
              </a:spcAft>
              <a:defRPr sz="1350">
                <a:solidFill>
                  <a:srgbClr val="1F2937"/>
                </a:solidFill>
                <a:latin typeface="Aptos"/>
              </a:defRPr>
            </a:pPr>
            <a:r>
              <a:rPr sz="1350">
                <a:solidFill>
                  <a:srgbClr val="1F2937"/>
                </a:solidFill>
                <a:latin typeface="Aptos"/>
              </a:rPr>
              <a:t>A narrow use case made the project more realistic and easier to implement well within the course timeline.</a:t>
            </a:r>
          </a:p>
          <a:p>
            <a:pPr eaLnBrk="1" fontAlgn="auto" hangingPunct="1">
              <a:spcBef>
                <a:spcPts val="0"/>
              </a:spcBef>
              <a:spcAft>
                <a:spcPts val="700"/>
              </a:spcAft>
              <a:defRPr sz="1350">
                <a:solidFill>
                  <a:srgbClr val="1F2937"/>
                </a:solidFill>
                <a:latin typeface="Aptos"/>
              </a:defRPr>
            </a:pPr>
            <a:r>
              <a:rPr sz="1350">
                <a:solidFill>
                  <a:srgbClr val="1F2937"/>
                </a:solidFill>
                <a:latin typeface="Aptos"/>
              </a:rPr>
              <a:t>The three lines of defense gave us a clear governance story from owner view to official tiering and audit review.</a:t>
            </a:r>
          </a:p>
          <a:p>
            <a:pPr eaLnBrk="1" fontAlgn="auto" hangingPunct="1">
              <a:spcBef>
                <a:spcPts val="0"/>
              </a:spcBef>
              <a:spcAft>
                <a:spcPts val="700"/>
              </a:spcAft>
              <a:defRPr sz="1350">
                <a:solidFill>
                  <a:srgbClr val="1F2937"/>
                </a:solidFill>
                <a:latin typeface="Aptos"/>
              </a:defRPr>
            </a:pPr>
            <a:r>
              <a:rPr sz="1350">
                <a:solidFill>
                  <a:srgbClr val="1F2937"/>
                </a:solidFill>
                <a:latin typeface="Aptos"/>
              </a:rPr>
              <a:t>The repo shows a working prototype with frozen cases, release logic, evidence packs, and a dashboard.</a:t>
            </a:r>
          </a:p>
          <a:p>
            <a:pPr eaLnBrk="1" fontAlgn="auto" hangingPunct="1">
              <a:spcBef>
                <a:spcPts val="0"/>
              </a:spcBef>
              <a:spcAft>
                <a:spcPts val="700"/>
              </a:spcAft>
              <a:defRPr sz="1350">
                <a:solidFill>
                  <a:srgbClr val="1F2937"/>
                </a:solidFill>
                <a:latin typeface="Aptos"/>
              </a:defRPr>
            </a:pPr>
            <a:r>
              <a:rPr sz="1350">
                <a:solidFill>
                  <a:srgbClr val="1F2937"/>
                </a:solidFill>
                <a:latin typeface="Aptos"/>
              </a:rPr>
              <a:t>The audit view helped us be honest about what is complete and what is still in progress.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F97684D-D49F-838F-A7A8-670F3A1394E0}"/>
              </a:ext>
            </a:extLst>
          </p:cNvPr>
          <p:cNvSpPr/>
          <p:nvPr/>
        </p:nvSpPr>
        <p:spPr>
          <a:xfrm>
            <a:off x="6400800" y="1079500"/>
            <a:ext cx="5138738" cy="2084388"/>
          </a:xfrm>
          <a:prstGeom prst="roundRect">
            <a:avLst/>
          </a:prstGeom>
          <a:solidFill>
            <a:srgbClr val="F8F9FB"/>
          </a:solidFill>
          <a:ln w="17780">
            <a:solidFill>
              <a:srgbClr val="248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CD0EE18-DD27-2DFC-F577-D78C24906E3F}"/>
              </a:ext>
            </a:extLst>
          </p:cNvPr>
          <p:cNvSpPr/>
          <p:nvPr/>
        </p:nvSpPr>
        <p:spPr>
          <a:xfrm>
            <a:off x="6510338" y="1169988"/>
            <a:ext cx="1325562" cy="257175"/>
          </a:xfrm>
          <a:prstGeom prst="roundRect">
            <a:avLst/>
          </a:prstGeom>
          <a:solidFill>
            <a:srgbClr val="EDF3F8"/>
          </a:solidFill>
          <a:ln w="12700">
            <a:solidFill>
              <a:srgbClr val="248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EDBBDC-479A-7FF7-E7B3-21641899D024}"/>
              </a:ext>
            </a:extLst>
          </p:cNvPr>
          <p:cNvSpPr txBox="1"/>
          <p:nvPr/>
        </p:nvSpPr>
        <p:spPr>
          <a:xfrm>
            <a:off x="6565900" y="1193800"/>
            <a:ext cx="1169988" cy="146050"/>
          </a:xfrm>
          <a:prstGeom prst="rect">
            <a:avLst/>
          </a:prstGeom>
          <a:noFill/>
        </p:spPr>
        <p:txBody>
          <a:bodyPr lIns="27432" tIns="27432" rIns="27432" bIns="27432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50" b="1">
                <a:solidFill>
                  <a:srgbClr val="248C7D"/>
                </a:solidFill>
                <a:latin typeface="Aptos"/>
              </a:rPr>
              <a:t>Next steps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8E72D1-9377-B47C-638C-A3DDEE29E2BD}"/>
              </a:ext>
            </a:extLst>
          </p:cNvPr>
          <p:cNvSpPr txBox="1"/>
          <p:nvPr/>
        </p:nvSpPr>
        <p:spPr>
          <a:xfrm>
            <a:off x="6629400" y="1536700"/>
            <a:ext cx="4618038" cy="13255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700"/>
              </a:spcAft>
              <a:defRPr sz="1280">
                <a:solidFill>
                  <a:srgbClr val="1F2937"/>
                </a:solidFill>
                <a:latin typeface="Aptos"/>
              </a:defRPr>
            </a:pPr>
            <a:r>
              <a:rPr sz="1280">
                <a:solidFill>
                  <a:srgbClr val="1F2937"/>
                </a:solidFill>
                <a:latin typeface="Aptos"/>
              </a:rPr>
              <a:t>Expand monitoring and evidence automation.</a:t>
            </a:r>
          </a:p>
          <a:p>
            <a:pPr eaLnBrk="1" fontAlgn="auto" hangingPunct="1">
              <a:spcBef>
                <a:spcPts val="0"/>
              </a:spcBef>
              <a:spcAft>
                <a:spcPts val="700"/>
              </a:spcAft>
              <a:defRPr sz="1280">
                <a:solidFill>
                  <a:srgbClr val="1F2937"/>
                </a:solidFill>
                <a:latin typeface="Aptos"/>
              </a:defRPr>
            </a:pPr>
            <a:r>
              <a:rPr sz="1280">
                <a:solidFill>
                  <a:srgbClr val="1F2937"/>
                </a:solidFill>
                <a:latin typeface="Aptos"/>
              </a:rPr>
              <a:t>Make sign-off workflow and committee approval more formal.</a:t>
            </a:r>
          </a:p>
          <a:p>
            <a:pPr eaLnBrk="1" fontAlgn="auto" hangingPunct="1">
              <a:spcBef>
                <a:spcPts val="0"/>
              </a:spcBef>
              <a:spcAft>
                <a:spcPts val="700"/>
              </a:spcAft>
              <a:defRPr sz="1280">
                <a:solidFill>
                  <a:srgbClr val="1F2937"/>
                </a:solidFill>
                <a:latin typeface="Aptos"/>
              </a:defRPr>
            </a:pPr>
            <a:r>
              <a:rPr sz="1280">
                <a:solidFill>
                  <a:srgbClr val="1F2937"/>
                </a:solidFill>
                <a:latin typeface="Aptos"/>
              </a:rPr>
              <a:t>Add more cases, stronger testing, and fuller validation documentation.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38D3808-DED9-25AF-02E2-626722BD9FD1}"/>
              </a:ext>
            </a:extLst>
          </p:cNvPr>
          <p:cNvSpPr/>
          <p:nvPr/>
        </p:nvSpPr>
        <p:spPr>
          <a:xfrm>
            <a:off x="6400800" y="3611563"/>
            <a:ext cx="5138738" cy="1966912"/>
          </a:xfrm>
          <a:prstGeom prst="round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20495" name="TextBox 14">
            <a:extLst>
              <a:ext uri="{FF2B5EF4-FFF2-40B4-BE49-F238E27FC236}">
                <a16:creationId xmlns:a16="http://schemas.microsoft.com/office/drawing/2014/main" id="{583DCE8F-490F-DE5E-E697-1251222DFA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388" y="3949700"/>
            <a:ext cx="4572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7432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600" b="1">
                <a:solidFill>
                  <a:srgbClr val="FFFFFF"/>
                </a:solidFill>
                <a:latin typeface="Aptos" panose="020B0004020202020204" pitchFamily="34" charset="0"/>
              </a:rPr>
              <a:t>Closing message</a:t>
            </a:r>
          </a:p>
        </p:txBody>
      </p:sp>
      <p:sp>
        <p:nvSpPr>
          <p:cNvPr id="20496" name="TextBox 15">
            <a:extLst>
              <a:ext uri="{FF2B5EF4-FFF2-40B4-BE49-F238E27FC236}">
                <a16:creationId xmlns:a16="http://schemas.microsoft.com/office/drawing/2014/main" id="{0A15D5E0-E07B-2685-DB6D-71C5B050DA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388" y="4333875"/>
            <a:ext cx="4572000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7432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300">
                <a:solidFill>
                  <a:srgbClr val="DFE7F0"/>
                </a:solidFill>
                <a:latin typeface="Aptos" panose="020B0004020202020204" pitchFamily="34" charset="0"/>
              </a:rPr>
              <a:t>The main result is not only the draft summary tool itself. The main result is the governed workflow around it — with controls, evidence, and a clear release path.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DD6BE4-E995-6B84-3506-EC925B32EDF8}"/>
              </a:ext>
            </a:extLst>
          </p:cNvPr>
          <p:cNvSpPr/>
          <p:nvPr/>
        </p:nvSpPr>
        <p:spPr>
          <a:xfrm>
            <a:off x="347663" y="6446838"/>
            <a:ext cx="11493500" cy="17462"/>
          </a:xfrm>
          <a:prstGeom prst="rect">
            <a:avLst/>
          </a:prstGeom>
          <a:solidFill>
            <a:srgbClr val="D2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6FEC18-7A68-8F92-B7D5-5906953643A9}"/>
              </a:ext>
            </a:extLst>
          </p:cNvPr>
          <p:cNvSpPr txBox="1"/>
          <p:nvPr/>
        </p:nvSpPr>
        <p:spPr>
          <a:xfrm>
            <a:off x="411163" y="6473825"/>
            <a:ext cx="9144000" cy="1095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850">
                <a:solidFill>
                  <a:srgbClr val="6B7280"/>
                </a:solidFill>
                <a:latin typeface="Aptos"/>
              </a:rPr>
              <a:t>NovaVest Research Summary Assistant v1 · ME575 Final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2776</Words>
  <Application>Microsoft Macintosh PowerPoint</Application>
  <PresentationFormat>Widescreen</PresentationFormat>
  <Paragraphs>171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Calibri</vt:lpstr>
      <vt:lpstr>Arial</vt:lpstr>
      <vt:lpstr>Aptos</vt:lpstr>
      <vt:lpstr>宋体</vt:lpstr>
      <vt:lpstr>Aptos Display</vt:lpstr>
      <vt:lpstr>等线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X Gentle</dc:creator>
  <cp:keywords/>
  <dc:description>generated using python-pptx</dc:description>
  <cp:lastModifiedBy>admin</cp:lastModifiedBy>
  <cp:revision>39</cp:revision>
  <dcterms:created xsi:type="dcterms:W3CDTF">2013-01-27T09:14:16Z</dcterms:created>
  <dcterms:modified xsi:type="dcterms:W3CDTF">2026-04-28T19:40:39Z</dcterms:modified>
  <cp:category/>
</cp:coreProperties>
</file>